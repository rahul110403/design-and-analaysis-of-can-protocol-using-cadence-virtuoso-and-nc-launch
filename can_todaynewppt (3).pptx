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91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806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061" y="20523"/>
            <a:ext cx="8917939" cy="9970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04838" y="1426209"/>
            <a:ext cx="5211445" cy="39897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cientific.net/AMR.433-440.1895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568960" cy="3307079"/>
            <a:chOff x="0" y="0"/>
            <a:chExt cx="568960" cy="330707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148" y="376427"/>
              <a:ext cx="527304" cy="293065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207645" cy="2021205"/>
            </a:xfrm>
            <a:custGeom>
              <a:avLst/>
              <a:gdLst/>
              <a:ahLst/>
              <a:cxnLst/>
              <a:rect l="l" t="t" r="r" b="b"/>
              <a:pathLst>
                <a:path w="207645" h="2021205">
                  <a:moveTo>
                    <a:pt x="207264" y="0"/>
                  </a:moveTo>
                  <a:lnTo>
                    <a:pt x="0" y="0"/>
                  </a:lnTo>
                  <a:lnTo>
                    <a:pt x="0" y="2020824"/>
                  </a:lnTo>
                  <a:lnTo>
                    <a:pt x="207264" y="2020824"/>
                  </a:lnTo>
                  <a:lnTo>
                    <a:pt x="207264" y="0"/>
                  </a:lnTo>
                  <a:close/>
                </a:path>
              </a:pathLst>
            </a:custGeom>
            <a:solidFill>
              <a:srgbClr val="EB6C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3859" y="187253"/>
            <a:ext cx="1271016" cy="131673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42187" y="546455"/>
            <a:ext cx="9898380" cy="24641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43840" algn="ctr">
              <a:lnSpc>
                <a:spcPts val="1910"/>
              </a:lnSpc>
              <a:spcBef>
                <a:spcPts val="95"/>
              </a:spcBef>
            </a:pPr>
            <a:r>
              <a:rPr sz="1600" b="1" dirty="0">
                <a:latin typeface="Times New Roman"/>
                <a:cs typeface="Times New Roman"/>
              </a:rPr>
              <a:t>BAPUJI</a:t>
            </a:r>
            <a:r>
              <a:rPr sz="1600" b="1" spc="35" dirty="0">
                <a:latin typeface="Times New Roman"/>
                <a:cs typeface="Times New Roman"/>
              </a:rPr>
              <a:t> </a:t>
            </a:r>
            <a:r>
              <a:rPr sz="1600" b="1" spc="-20" dirty="0">
                <a:latin typeface="Times New Roman"/>
                <a:cs typeface="Times New Roman"/>
              </a:rPr>
              <a:t>EDUCATIONAL</a:t>
            </a:r>
            <a:r>
              <a:rPr sz="1600" b="1" spc="-17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ASSOCIATION®</a:t>
            </a:r>
            <a:endParaRPr sz="1600" dirty="0">
              <a:latin typeface="Times New Roman"/>
              <a:cs typeface="Times New Roman"/>
            </a:endParaRPr>
          </a:p>
          <a:p>
            <a:pPr marR="236220" algn="ctr">
              <a:lnSpc>
                <a:spcPts val="2390"/>
              </a:lnSpc>
            </a:pPr>
            <a:r>
              <a:rPr sz="2000" b="1" dirty="0">
                <a:latin typeface="Times New Roman"/>
                <a:cs typeface="Times New Roman"/>
              </a:rPr>
              <a:t>BAPUJI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INSTITUTE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10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ENGINEERING</a:t>
            </a:r>
            <a:r>
              <a:rPr sz="2000" b="1" spc="-1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TECHNOLOGY</a:t>
            </a:r>
            <a:endParaRPr sz="2000" dirty="0">
              <a:latin typeface="Times New Roman"/>
              <a:cs typeface="Times New Roman"/>
            </a:endParaRPr>
          </a:p>
          <a:p>
            <a:pPr marR="240665" algn="ctr">
              <a:lnSpc>
                <a:spcPct val="100000"/>
              </a:lnSpc>
              <a:spcBef>
                <a:spcPts val="10"/>
              </a:spcBef>
            </a:pPr>
            <a:r>
              <a:rPr sz="1800" spc="-70" dirty="0">
                <a:latin typeface="Times New Roman"/>
                <a:cs typeface="Times New Roman"/>
              </a:rPr>
              <a:t>DAVANGERE-</a:t>
            </a:r>
            <a:r>
              <a:rPr sz="1800" spc="-10" dirty="0">
                <a:latin typeface="Times New Roman"/>
                <a:cs typeface="Times New Roman"/>
              </a:rPr>
              <a:t>577004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R="243840" algn="ctr">
              <a:lnSpc>
                <a:spcPct val="100000"/>
              </a:lnSpc>
            </a:pPr>
            <a:r>
              <a:rPr sz="2000" b="1" spc="-30" dirty="0">
                <a:latin typeface="Times New Roman"/>
                <a:cs typeface="Times New Roman"/>
              </a:rPr>
              <a:t>DEPARTMENT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ELECTRONICS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&amp;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COMMUNICATION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ENGINEERING</a:t>
            </a:r>
            <a:endParaRPr lang="en-IN" sz="2000" b="1" spc="-10" dirty="0">
              <a:latin typeface="Times New Roman"/>
              <a:cs typeface="Times New Roman"/>
            </a:endParaRPr>
          </a:p>
          <a:p>
            <a:pPr marR="243840" algn="ctr">
              <a:lnSpc>
                <a:spcPct val="100000"/>
              </a:lnSpc>
            </a:pPr>
            <a:endParaRPr sz="2000" dirty="0">
              <a:latin typeface="Times New Roman"/>
              <a:cs typeface="Times New Roman"/>
            </a:endParaRPr>
          </a:p>
          <a:p>
            <a:pPr marR="635" algn="ctr">
              <a:lnSpc>
                <a:spcPts val="2140"/>
              </a:lnSpc>
            </a:pPr>
            <a:r>
              <a:rPr sz="1800" dirty="0">
                <a:latin typeface="Times New Roman"/>
                <a:cs typeface="Times New Roman"/>
              </a:rPr>
              <a:t>Project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Work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Presentation</a:t>
            </a:r>
            <a:endParaRPr sz="1800" dirty="0">
              <a:latin typeface="Times New Roman"/>
              <a:cs typeface="Times New Roman"/>
            </a:endParaRPr>
          </a:p>
          <a:p>
            <a:pPr algn="ctr">
              <a:lnSpc>
                <a:spcPts val="3340"/>
              </a:lnSpc>
            </a:pPr>
            <a:r>
              <a:rPr sz="2800" b="1" dirty="0">
                <a:latin typeface="Times New Roman"/>
                <a:cs typeface="Times New Roman"/>
              </a:rPr>
              <a:t>Design</a:t>
            </a:r>
            <a:r>
              <a:rPr sz="2800" b="1" spc="-1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and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lang="en-IN" sz="2800" b="1" dirty="0">
                <a:latin typeface="Times New Roman"/>
                <a:cs typeface="Times New Roman"/>
              </a:rPr>
              <a:t>Analysis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of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Controller</a:t>
            </a:r>
            <a:r>
              <a:rPr sz="2800" b="1" spc="-21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Area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Network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Protocol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75352" y="3243961"/>
            <a:ext cx="2432050" cy="1923414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1800" b="1" spc="-20" dirty="0">
                <a:latin typeface="Times New Roman"/>
                <a:cs typeface="Times New Roman"/>
              </a:rPr>
              <a:t>Project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Associates</a:t>
            </a:r>
            <a:endParaRPr sz="1800">
              <a:latin typeface="Times New Roman"/>
              <a:cs typeface="Times New Roman"/>
            </a:endParaRPr>
          </a:p>
          <a:p>
            <a:pPr marL="1123315">
              <a:lnSpc>
                <a:spcPct val="100000"/>
              </a:lnSpc>
              <a:spcBef>
                <a:spcPts val="950"/>
              </a:spcBef>
            </a:pPr>
            <a:r>
              <a:rPr sz="1800" spc="-10" dirty="0">
                <a:latin typeface="Times New Roman"/>
                <a:cs typeface="Times New Roman"/>
              </a:rPr>
              <a:t>4BD22EC007</a:t>
            </a:r>
            <a:endParaRPr sz="1800">
              <a:latin typeface="Times New Roman"/>
              <a:cs typeface="Times New Roman"/>
            </a:endParaRPr>
          </a:p>
          <a:p>
            <a:pPr marL="1123315">
              <a:lnSpc>
                <a:spcPct val="100000"/>
              </a:lnSpc>
              <a:spcBef>
                <a:spcPts val="760"/>
              </a:spcBef>
            </a:pPr>
            <a:r>
              <a:rPr sz="1800" spc="-10" dirty="0">
                <a:latin typeface="Times New Roman"/>
                <a:cs typeface="Times New Roman"/>
              </a:rPr>
              <a:t>4BD22EC025</a:t>
            </a:r>
            <a:endParaRPr sz="1800">
              <a:latin typeface="Times New Roman"/>
              <a:cs typeface="Times New Roman"/>
            </a:endParaRPr>
          </a:p>
          <a:p>
            <a:pPr marL="1123315">
              <a:lnSpc>
                <a:spcPct val="100000"/>
              </a:lnSpc>
              <a:spcBef>
                <a:spcPts val="760"/>
              </a:spcBef>
            </a:pPr>
            <a:r>
              <a:rPr sz="1800" spc="-10" dirty="0">
                <a:latin typeface="Times New Roman"/>
                <a:cs typeface="Times New Roman"/>
              </a:rPr>
              <a:t>4BD22EC057</a:t>
            </a:r>
            <a:endParaRPr sz="1800">
              <a:latin typeface="Times New Roman"/>
              <a:cs typeface="Times New Roman"/>
            </a:endParaRPr>
          </a:p>
          <a:p>
            <a:pPr marL="1123315">
              <a:lnSpc>
                <a:spcPct val="100000"/>
              </a:lnSpc>
              <a:spcBef>
                <a:spcPts val="720"/>
              </a:spcBef>
            </a:pPr>
            <a:r>
              <a:rPr sz="1800" spc="-10" dirty="0">
                <a:latin typeface="Times New Roman"/>
                <a:cs typeface="Times New Roman"/>
              </a:rPr>
              <a:t>4BD22EC069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47642" y="3663188"/>
            <a:ext cx="1163320" cy="15043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34600"/>
              </a:lnSpc>
              <a:spcBef>
                <a:spcPts val="110"/>
              </a:spcBef>
            </a:pPr>
            <a:r>
              <a:rPr sz="1800" dirty="0">
                <a:latin typeface="Times New Roman"/>
                <a:cs typeface="Times New Roman"/>
              </a:rPr>
              <a:t>Amith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4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V </a:t>
            </a:r>
            <a:r>
              <a:rPr sz="1800" dirty="0">
                <a:latin typeface="Times New Roman"/>
                <a:cs typeface="Times New Roman"/>
              </a:rPr>
              <a:t>Chirag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S </a:t>
            </a:r>
            <a:r>
              <a:rPr sz="1800" dirty="0">
                <a:latin typeface="Times New Roman"/>
                <a:cs typeface="Times New Roman"/>
              </a:rPr>
              <a:t>Mayuri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M </a:t>
            </a:r>
            <a:r>
              <a:rPr sz="1800" dirty="0">
                <a:latin typeface="Times New Roman"/>
                <a:cs typeface="Times New Roman"/>
              </a:rPr>
              <a:t>Rahul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Pattar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50517" y="5594001"/>
            <a:ext cx="2964180" cy="94932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2000" b="1" dirty="0">
                <a:latin typeface="Times New Roman"/>
                <a:cs typeface="Times New Roman"/>
              </a:rPr>
              <a:t>Smt.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Radhika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Priya</a:t>
            </a:r>
            <a:endParaRPr sz="2000">
              <a:latin typeface="Times New Roman"/>
              <a:cs typeface="Times New Roman"/>
            </a:endParaRPr>
          </a:p>
          <a:p>
            <a:pPr marL="1347470">
              <a:lnSpc>
                <a:spcPct val="100000"/>
              </a:lnSpc>
              <a:spcBef>
                <a:spcPts val="225"/>
              </a:spcBef>
            </a:pPr>
            <a:r>
              <a:rPr sz="1200" b="1" spc="-10" dirty="0">
                <a:latin typeface="Times New Roman"/>
                <a:cs typeface="Times New Roman"/>
              </a:rPr>
              <a:t>M.Tech,MISTE.,MIETE</a:t>
            </a:r>
            <a:endParaRPr sz="1200">
              <a:latin typeface="Times New Roman"/>
              <a:cs typeface="Times New Roman"/>
            </a:endParaRPr>
          </a:p>
          <a:p>
            <a:pPr marL="238125">
              <a:lnSpc>
                <a:spcPct val="100000"/>
              </a:lnSpc>
              <a:spcBef>
                <a:spcPts val="430"/>
              </a:spcBef>
            </a:pPr>
            <a:r>
              <a:rPr sz="2000" b="1" dirty="0">
                <a:latin typeface="Times New Roman"/>
                <a:cs typeface="Times New Roman"/>
              </a:rPr>
              <a:t>Project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Guide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32318" y="5648004"/>
            <a:ext cx="3772535" cy="89535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254635">
              <a:lnSpc>
                <a:spcPct val="100000"/>
              </a:lnSpc>
              <a:spcBef>
                <a:spcPts val="229"/>
              </a:spcBef>
            </a:pPr>
            <a:r>
              <a:rPr sz="2000" b="1" spc="-45" dirty="0">
                <a:latin typeface="Times New Roman"/>
                <a:cs typeface="Times New Roman"/>
              </a:rPr>
              <a:t>Dr.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G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Sunitha</a:t>
            </a:r>
            <a:endParaRPr sz="2000">
              <a:latin typeface="Times New Roman"/>
              <a:cs typeface="Times New Roman"/>
            </a:endParaRPr>
          </a:p>
          <a:p>
            <a:pPr marL="1112520">
              <a:lnSpc>
                <a:spcPct val="100000"/>
              </a:lnSpc>
              <a:spcBef>
                <a:spcPts val="75"/>
              </a:spcBef>
            </a:pPr>
            <a:r>
              <a:rPr sz="1050" b="1" dirty="0">
                <a:latin typeface="Times New Roman"/>
                <a:cs typeface="Times New Roman"/>
              </a:rPr>
              <a:t>M.Tech.</a:t>
            </a:r>
            <a:r>
              <a:rPr sz="1050" b="1" spc="-3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(DEAC),</a:t>
            </a:r>
            <a:r>
              <a:rPr sz="1050" b="1" spc="-3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Ph.D.,</a:t>
            </a:r>
            <a:r>
              <a:rPr sz="1050" b="1" spc="-2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MISTE,</a:t>
            </a:r>
            <a:r>
              <a:rPr sz="1050" b="1" spc="-3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FIETE.,</a:t>
            </a:r>
            <a:r>
              <a:rPr sz="1050" b="1" spc="-35" dirty="0">
                <a:latin typeface="Times New Roman"/>
                <a:cs typeface="Times New Roman"/>
              </a:rPr>
              <a:t> </a:t>
            </a:r>
            <a:r>
              <a:rPr sz="1050" b="1" spc="-25" dirty="0">
                <a:latin typeface="Times New Roman"/>
                <a:cs typeface="Times New Roman"/>
              </a:rPr>
              <a:t>FIE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000" b="1" dirty="0">
                <a:latin typeface="Times New Roman"/>
                <a:cs typeface="Times New Roman"/>
              </a:rPr>
              <a:t>Program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Coordinator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958588" y="242341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017" y="2032"/>
                </a:moveTo>
                <a:lnTo>
                  <a:pt x="6985" y="0"/>
                </a:lnTo>
                <a:lnTo>
                  <a:pt x="2032" y="0"/>
                </a:lnTo>
                <a:lnTo>
                  <a:pt x="0" y="2032"/>
                </a:lnTo>
                <a:lnTo>
                  <a:pt x="0" y="6985"/>
                </a:lnTo>
                <a:lnTo>
                  <a:pt x="2032" y="9017"/>
                </a:lnTo>
                <a:lnTo>
                  <a:pt x="6985" y="9017"/>
                </a:lnTo>
                <a:lnTo>
                  <a:pt x="9017" y="6985"/>
                </a:lnTo>
                <a:lnTo>
                  <a:pt x="9017" y="4572"/>
                </a:lnTo>
                <a:lnTo>
                  <a:pt x="9017" y="20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183251" y="243319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017" y="2032"/>
                </a:moveTo>
                <a:lnTo>
                  <a:pt x="6985" y="0"/>
                </a:lnTo>
                <a:lnTo>
                  <a:pt x="2032" y="0"/>
                </a:lnTo>
                <a:lnTo>
                  <a:pt x="0" y="2032"/>
                </a:lnTo>
                <a:lnTo>
                  <a:pt x="0" y="6985"/>
                </a:lnTo>
                <a:lnTo>
                  <a:pt x="2032" y="9017"/>
                </a:lnTo>
                <a:lnTo>
                  <a:pt x="6985" y="9017"/>
                </a:lnTo>
                <a:lnTo>
                  <a:pt x="9017" y="6985"/>
                </a:lnTo>
                <a:lnTo>
                  <a:pt x="9017" y="4445"/>
                </a:lnTo>
                <a:lnTo>
                  <a:pt x="9017" y="20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111240" y="244284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6985" y="0"/>
                </a:moveTo>
                <a:lnTo>
                  <a:pt x="2032" y="0"/>
                </a:lnTo>
                <a:lnTo>
                  <a:pt x="0" y="2031"/>
                </a:lnTo>
                <a:lnTo>
                  <a:pt x="0" y="6984"/>
                </a:lnTo>
                <a:lnTo>
                  <a:pt x="2032" y="9016"/>
                </a:lnTo>
                <a:lnTo>
                  <a:pt x="6985" y="9016"/>
                </a:lnTo>
                <a:lnTo>
                  <a:pt x="9017" y="6984"/>
                </a:lnTo>
                <a:lnTo>
                  <a:pt x="9017" y="4571"/>
                </a:lnTo>
                <a:lnTo>
                  <a:pt x="9017" y="2031"/>
                </a:lnTo>
                <a:lnTo>
                  <a:pt x="698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518145" y="241376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6984" y="0"/>
                </a:moveTo>
                <a:lnTo>
                  <a:pt x="2031" y="0"/>
                </a:lnTo>
                <a:lnTo>
                  <a:pt x="0" y="2032"/>
                </a:lnTo>
                <a:lnTo>
                  <a:pt x="0" y="6985"/>
                </a:lnTo>
                <a:lnTo>
                  <a:pt x="2031" y="9016"/>
                </a:lnTo>
                <a:lnTo>
                  <a:pt x="6984" y="9016"/>
                </a:lnTo>
                <a:lnTo>
                  <a:pt x="9017" y="6985"/>
                </a:lnTo>
                <a:lnTo>
                  <a:pt x="9017" y="4445"/>
                </a:lnTo>
                <a:lnTo>
                  <a:pt x="9017" y="2032"/>
                </a:lnTo>
                <a:lnTo>
                  <a:pt x="69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336665" y="2315082"/>
            <a:ext cx="19050" cy="40640"/>
          </a:xfrm>
          <a:custGeom>
            <a:avLst/>
            <a:gdLst/>
            <a:ahLst/>
            <a:cxnLst/>
            <a:rect l="l" t="t" r="r" b="b"/>
            <a:pathLst>
              <a:path w="19050" h="40639">
                <a:moveTo>
                  <a:pt x="12954" y="0"/>
                </a:moveTo>
                <a:lnTo>
                  <a:pt x="10922" y="1650"/>
                </a:lnTo>
                <a:lnTo>
                  <a:pt x="9144" y="3047"/>
                </a:lnTo>
                <a:lnTo>
                  <a:pt x="8000" y="4444"/>
                </a:lnTo>
                <a:lnTo>
                  <a:pt x="381" y="34670"/>
                </a:lnTo>
                <a:lnTo>
                  <a:pt x="0" y="37083"/>
                </a:lnTo>
                <a:lnTo>
                  <a:pt x="1650" y="39369"/>
                </a:lnTo>
                <a:lnTo>
                  <a:pt x="6476" y="40131"/>
                </a:lnTo>
                <a:lnTo>
                  <a:pt x="8762" y="38480"/>
                </a:lnTo>
                <a:lnTo>
                  <a:pt x="9271" y="36067"/>
                </a:lnTo>
                <a:lnTo>
                  <a:pt x="12064" y="17271"/>
                </a:lnTo>
                <a:lnTo>
                  <a:pt x="12252" y="17271"/>
                </a:lnTo>
                <a:lnTo>
                  <a:pt x="13872" y="12700"/>
                </a:lnTo>
                <a:lnTo>
                  <a:pt x="13715" y="12700"/>
                </a:lnTo>
                <a:lnTo>
                  <a:pt x="15178" y="10032"/>
                </a:lnTo>
                <a:lnTo>
                  <a:pt x="14732" y="10032"/>
                </a:lnTo>
                <a:lnTo>
                  <a:pt x="15875" y="8762"/>
                </a:lnTo>
                <a:lnTo>
                  <a:pt x="16478" y="8762"/>
                </a:lnTo>
                <a:lnTo>
                  <a:pt x="18542" y="7112"/>
                </a:lnTo>
                <a:lnTo>
                  <a:pt x="18773" y="4444"/>
                </a:lnTo>
                <a:lnTo>
                  <a:pt x="18796" y="4190"/>
                </a:lnTo>
                <a:lnTo>
                  <a:pt x="15748" y="380"/>
                </a:lnTo>
                <a:lnTo>
                  <a:pt x="12954" y="0"/>
                </a:lnTo>
                <a:close/>
              </a:path>
              <a:path w="19050" h="40639">
                <a:moveTo>
                  <a:pt x="12252" y="17271"/>
                </a:moveTo>
                <a:lnTo>
                  <a:pt x="12064" y="17271"/>
                </a:lnTo>
                <a:lnTo>
                  <a:pt x="11934" y="18186"/>
                </a:lnTo>
                <a:lnTo>
                  <a:pt x="12252" y="17271"/>
                </a:lnTo>
                <a:close/>
              </a:path>
              <a:path w="19050" h="40639">
                <a:moveTo>
                  <a:pt x="14101" y="12051"/>
                </a:moveTo>
                <a:lnTo>
                  <a:pt x="13715" y="12700"/>
                </a:lnTo>
                <a:lnTo>
                  <a:pt x="13872" y="12700"/>
                </a:lnTo>
                <a:lnTo>
                  <a:pt x="14101" y="12051"/>
                </a:lnTo>
                <a:close/>
              </a:path>
              <a:path w="19050" h="40639">
                <a:moveTo>
                  <a:pt x="15735" y="9016"/>
                </a:moveTo>
                <a:lnTo>
                  <a:pt x="15224" y="9485"/>
                </a:lnTo>
                <a:lnTo>
                  <a:pt x="14732" y="10032"/>
                </a:lnTo>
                <a:lnTo>
                  <a:pt x="15478" y="9485"/>
                </a:lnTo>
                <a:lnTo>
                  <a:pt x="15735" y="9016"/>
                </a:lnTo>
                <a:close/>
              </a:path>
              <a:path w="19050" h="40639">
                <a:moveTo>
                  <a:pt x="15478" y="9485"/>
                </a:moveTo>
                <a:lnTo>
                  <a:pt x="14732" y="10032"/>
                </a:lnTo>
                <a:lnTo>
                  <a:pt x="15178" y="10032"/>
                </a:lnTo>
                <a:lnTo>
                  <a:pt x="15478" y="9485"/>
                </a:lnTo>
                <a:close/>
              </a:path>
              <a:path w="19050" h="40639">
                <a:moveTo>
                  <a:pt x="16463" y="8762"/>
                </a:moveTo>
                <a:lnTo>
                  <a:pt x="15875" y="8762"/>
                </a:lnTo>
                <a:lnTo>
                  <a:pt x="15478" y="9485"/>
                </a:lnTo>
                <a:lnTo>
                  <a:pt x="16463" y="87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55331" y="2423286"/>
            <a:ext cx="15875" cy="21590"/>
          </a:xfrm>
          <a:custGeom>
            <a:avLst/>
            <a:gdLst/>
            <a:ahLst/>
            <a:cxnLst/>
            <a:rect l="l" t="t" r="r" b="b"/>
            <a:pathLst>
              <a:path w="15875" h="21589">
                <a:moveTo>
                  <a:pt x="13589" y="0"/>
                </a:moveTo>
                <a:lnTo>
                  <a:pt x="9271" y="0"/>
                </a:lnTo>
                <a:lnTo>
                  <a:pt x="5207" y="2793"/>
                </a:lnTo>
                <a:lnTo>
                  <a:pt x="3048" y="7747"/>
                </a:lnTo>
                <a:lnTo>
                  <a:pt x="2794" y="8127"/>
                </a:lnTo>
                <a:lnTo>
                  <a:pt x="635" y="14986"/>
                </a:lnTo>
                <a:lnTo>
                  <a:pt x="0" y="17399"/>
                </a:lnTo>
                <a:lnTo>
                  <a:pt x="1333" y="20065"/>
                </a:lnTo>
                <a:lnTo>
                  <a:pt x="1672" y="20065"/>
                </a:lnTo>
                <a:lnTo>
                  <a:pt x="3683" y="20700"/>
                </a:lnTo>
                <a:lnTo>
                  <a:pt x="11429" y="10922"/>
                </a:lnTo>
                <a:lnTo>
                  <a:pt x="12274" y="9016"/>
                </a:lnTo>
                <a:lnTo>
                  <a:pt x="9271" y="9016"/>
                </a:lnTo>
                <a:lnTo>
                  <a:pt x="13462" y="6223"/>
                </a:lnTo>
                <a:lnTo>
                  <a:pt x="15621" y="6223"/>
                </a:lnTo>
                <a:lnTo>
                  <a:pt x="15621" y="2032"/>
                </a:lnTo>
                <a:lnTo>
                  <a:pt x="13589" y="0"/>
                </a:lnTo>
                <a:close/>
              </a:path>
              <a:path w="15875" h="21589">
                <a:moveTo>
                  <a:pt x="13462" y="6223"/>
                </a:moveTo>
                <a:lnTo>
                  <a:pt x="9271" y="9016"/>
                </a:lnTo>
                <a:lnTo>
                  <a:pt x="12274" y="9016"/>
                </a:lnTo>
                <a:lnTo>
                  <a:pt x="13462" y="6223"/>
                </a:lnTo>
                <a:close/>
              </a:path>
              <a:path w="15875" h="21589">
                <a:moveTo>
                  <a:pt x="15621" y="6223"/>
                </a:moveTo>
                <a:lnTo>
                  <a:pt x="13462" y="6223"/>
                </a:lnTo>
                <a:lnTo>
                  <a:pt x="12274" y="9016"/>
                </a:lnTo>
                <a:lnTo>
                  <a:pt x="13589" y="9016"/>
                </a:lnTo>
                <a:lnTo>
                  <a:pt x="15621" y="6985"/>
                </a:lnTo>
                <a:lnTo>
                  <a:pt x="15621" y="62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443599" y="2491866"/>
            <a:ext cx="19050" cy="28575"/>
          </a:xfrm>
          <a:custGeom>
            <a:avLst/>
            <a:gdLst/>
            <a:ahLst/>
            <a:cxnLst/>
            <a:rect l="l" t="t" r="r" b="b"/>
            <a:pathLst>
              <a:path w="19050" h="28575">
                <a:moveTo>
                  <a:pt x="9017" y="2032"/>
                </a:moveTo>
                <a:lnTo>
                  <a:pt x="6985" y="0"/>
                </a:lnTo>
                <a:lnTo>
                  <a:pt x="2032" y="0"/>
                </a:lnTo>
                <a:lnTo>
                  <a:pt x="0" y="2032"/>
                </a:lnTo>
                <a:lnTo>
                  <a:pt x="0" y="6985"/>
                </a:lnTo>
                <a:lnTo>
                  <a:pt x="2032" y="9017"/>
                </a:lnTo>
                <a:lnTo>
                  <a:pt x="6985" y="9017"/>
                </a:lnTo>
                <a:lnTo>
                  <a:pt x="9017" y="6985"/>
                </a:lnTo>
                <a:lnTo>
                  <a:pt x="9017" y="4445"/>
                </a:lnTo>
                <a:lnTo>
                  <a:pt x="9017" y="2032"/>
                </a:lnTo>
                <a:close/>
              </a:path>
              <a:path w="19050" h="28575">
                <a:moveTo>
                  <a:pt x="18669" y="21463"/>
                </a:moveTo>
                <a:lnTo>
                  <a:pt x="16637" y="19431"/>
                </a:lnTo>
                <a:lnTo>
                  <a:pt x="11684" y="19431"/>
                </a:lnTo>
                <a:lnTo>
                  <a:pt x="9652" y="21463"/>
                </a:lnTo>
                <a:lnTo>
                  <a:pt x="9652" y="26416"/>
                </a:lnTo>
                <a:lnTo>
                  <a:pt x="11684" y="28448"/>
                </a:lnTo>
                <a:lnTo>
                  <a:pt x="16637" y="28448"/>
                </a:lnTo>
                <a:lnTo>
                  <a:pt x="18669" y="26416"/>
                </a:lnTo>
                <a:lnTo>
                  <a:pt x="18669" y="23876"/>
                </a:lnTo>
                <a:lnTo>
                  <a:pt x="18669" y="214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384925" y="241376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6985" y="0"/>
                </a:moveTo>
                <a:lnTo>
                  <a:pt x="2032" y="0"/>
                </a:lnTo>
                <a:lnTo>
                  <a:pt x="0" y="2032"/>
                </a:lnTo>
                <a:lnTo>
                  <a:pt x="0" y="6985"/>
                </a:lnTo>
                <a:lnTo>
                  <a:pt x="2032" y="9016"/>
                </a:lnTo>
                <a:lnTo>
                  <a:pt x="6985" y="9016"/>
                </a:lnTo>
                <a:lnTo>
                  <a:pt x="9016" y="6985"/>
                </a:lnTo>
                <a:lnTo>
                  <a:pt x="9016" y="4445"/>
                </a:lnTo>
                <a:lnTo>
                  <a:pt x="9016" y="2032"/>
                </a:lnTo>
                <a:lnTo>
                  <a:pt x="698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717156" y="2677667"/>
            <a:ext cx="9525" cy="8890"/>
          </a:xfrm>
          <a:custGeom>
            <a:avLst/>
            <a:gdLst/>
            <a:ahLst/>
            <a:cxnLst/>
            <a:rect l="l" t="t" r="r" b="b"/>
            <a:pathLst>
              <a:path w="9525" h="8889">
                <a:moveTo>
                  <a:pt x="6985" y="0"/>
                </a:moveTo>
                <a:lnTo>
                  <a:pt x="2032" y="0"/>
                </a:lnTo>
                <a:lnTo>
                  <a:pt x="0" y="1905"/>
                </a:lnTo>
                <a:lnTo>
                  <a:pt x="0" y="6985"/>
                </a:lnTo>
                <a:lnTo>
                  <a:pt x="2032" y="8890"/>
                </a:lnTo>
                <a:lnTo>
                  <a:pt x="6985" y="8890"/>
                </a:lnTo>
                <a:lnTo>
                  <a:pt x="9017" y="6985"/>
                </a:lnTo>
                <a:lnTo>
                  <a:pt x="9017" y="4445"/>
                </a:lnTo>
                <a:lnTo>
                  <a:pt x="9017" y="1905"/>
                </a:lnTo>
                <a:lnTo>
                  <a:pt x="698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971030" y="2501518"/>
            <a:ext cx="8890" cy="9525"/>
          </a:xfrm>
          <a:custGeom>
            <a:avLst/>
            <a:gdLst/>
            <a:ahLst/>
            <a:cxnLst/>
            <a:rect l="l" t="t" r="r" b="b"/>
            <a:pathLst>
              <a:path w="8890" h="9525">
                <a:moveTo>
                  <a:pt x="8890" y="2032"/>
                </a:moveTo>
                <a:lnTo>
                  <a:pt x="6985" y="0"/>
                </a:lnTo>
                <a:lnTo>
                  <a:pt x="1905" y="0"/>
                </a:lnTo>
                <a:lnTo>
                  <a:pt x="0" y="2032"/>
                </a:lnTo>
                <a:lnTo>
                  <a:pt x="0" y="6985"/>
                </a:lnTo>
                <a:lnTo>
                  <a:pt x="1905" y="9017"/>
                </a:lnTo>
                <a:lnTo>
                  <a:pt x="6985" y="9017"/>
                </a:lnTo>
                <a:lnTo>
                  <a:pt x="8890" y="6985"/>
                </a:lnTo>
                <a:lnTo>
                  <a:pt x="8890" y="4572"/>
                </a:lnTo>
                <a:lnTo>
                  <a:pt x="8890" y="20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9559670" y="605764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6984" y="0"/>
                </a:moveTo>
                <a:lnTo>
                  <a:pt x="2031" y="0"/>
                </a:lnTo>
                <a:lnTo>
                  <a:pt x="0" y="2019"/>
                </a:lnTo>
                <a:lnTo>
                  <a:pt x="0" y="6984"/>
                </a:lnTo>
                <a:lnTo>
                  <a:pt x="2031" y="9004"/>
                </a:lnTo>
                <a:lnTo>
                  <a:pt x="6984" y="9004"/>
                </a:lnTo>
                <a:lnTo>
                  <a:pt x="9017" y="6984"/>
                </a:lnTo>
                <a:lnTo>
                  <a:pt x="9017" y="4495"/>
                </a:lnTo>
                <a:lnTo>
                  <a:pt x="9017" y="2019"/>
                </a:lnTo>
                <a:lnTo>
                  <a:pt x="69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Picture 30" descr="VTU Logo">
            <a:extLst>
              <a:ext uri="{FF2B5EF4-FFF2-40B4-BE49-F238E27FC236}">
                <a16:creationId xmlns:a16="http://schemas.microsoft.com/office/drawing/2014/main" id="{B0609179-3F14-4372-ACD8-B09B12CDE09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9400" y="127618"/>
            <a:ext cx="1506525" cy="137637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626595" y="3550920"/>
            <a:ext cx="567055" cy="3307079"/>
            <a:chOff x="11626595" y="3550920"/>
            <a:chExt cx="567055" cy="330707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26595" y="3550920"/>
              <a:ext cx="525779" cy="293065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1987783" y="4837176"/>
              <a:ext cx="205740" cy="2021205"/>
            </a:xfrm>
            <a:custGeom>
              <a:avLst/>
              <a:gdLst/>
              <a:ahLst/>
              <a:cxnLst/>
              <a:rect l="l" t="t" r="r" b="b"/>
              <a:pathLst>
                <a:path w="205740" h="2021204">
                  <a:moveTo>
                    <a:pt x="205740" y="0"/>
                  </a:moveTo>
                  <a:lnTo>
                    <a:pt x="0" y="0"/>
                  </a:lnTo>
                  <a:lnTo>
                    <a:pt x="0" y="2020824"/>
                  </a:lnTo>
                  <a:lnTo>
                    <a:pt x="205740" y="2020824"/>
                  </a:lnTo>
                  <a:lnTo>
                    <a:pt x="205740" y="0"/>
                  </a:lnTo>
                  <a:close/>
                </a:path>
              </a:pathLst>
            </a:custGeom>
            <a:solidFill>
              <a:srgbClr val="EB6C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089653" y="497205"/>
            <a:ext cx="37598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VISION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1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spc="-30" dirty="0">
                <a:latin typeface="Times New Roman"/>
                <a:cs typeface="Times New Roman"/>
              </a:rPr>
              <a:t>DEPARTMENT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5058" y="809243"/>
            <a:ext cx="10541635" cy="5073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3860" marR="480059">
              <a:lnSpc>
                <a:spcPct val="150100"/>
              </a:lnSpc>
              <a:spcBef>
                <a:spcPts val="100"/>
              </a:spcBef>
              <a:tabLst>
                <a:tab pos="788035" algn="l"/>
                <a:tab pos="1149350" algn="l"/>
                <a:tab pos="1472565" algn="l"/>
                <a:tab pos="1896110" algn="l"/>
                <a:tab pos="2854960" algn="l"/>
                <a:tab pos="3178175" algn="l"/>
                <a:tab pos="4212590" algn="l"/>
                <a:tab pos="4991735" algn="l"/>
                <a:tab pos="5962650" algn="l"/>
                <a:tab pos="6995795" algn="l"/>
                <a:tab pos="7471409" algn="l"/>
                <a:tab pos="8378190" algn="l"/>
                <a:tab pos="8700135" algn="l"/>
                <a:tab pos="9875520" algn="l"/>
              </a:tabLst>
            </a:pPr>
            <a:r>
              <a:rPr sz="1800" spc="-25" dirty="0">
                <a:latin typeface="Times New Roman"/>
                <a:cs typeface="Times New Roman"/>
              </a:rPr>
              <a:t>To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25" dirty="0">
                <a:latin typeface="Times New Roman"/>
                <a:cs typeface="Times New Roman"/>
              </a:rPr>
              <a:t>be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25" dirty="0">
                <a:latin typeface="Times New Roman"/>
                <a:cs typeface="Times New Roman"/>
              </a:rPr>
              <a:t>in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25" dirty="0">
                <a:latin typeface="Times New Roman"/>
                <a:cs typeface="Times New Roman"/>
              </a:rPr>
              <a:t>the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forefront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25" dirty="0">
                <a:latin typeface="Times New Roman"/>
                <a:cs typeface="Times New Roman"/>
              </a:rPr>
              <a:t>in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providing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quality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technical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education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25" dirty="0">
                <a:latin typeface="Times New Roman"/>
                <a:cs typeface="Times New Roman"/>
              </a:rPr>
              <a:t>and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research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25" dirty="0">
                <a:latin typeface="Times New Roman"/>
                <a:cs typeface="Times New Roman"/>
              </a:rPr>
              <a:t>in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Electronics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50" dirty="0">
                <a:latin typeface="Times New Roman"/>
                <a:cs typeface="Times New Roman"/>
              </a:rPr>
              <a:t>&amp; </a:t>
            </a:r>
            <a:r>
              <a:rPr sz="1800" dirty="0">
                <a:latin typeface="Times New Roman"/>
                <a:cs typeface="Times New Roman"/>
              </a:rPr>
              <a:t>Communication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Engineering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produce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skilled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professionals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cater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challenges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society.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1800">
              <a:latin typeface="Times New Roman"/>
              <a:cs typeface="Times New Roman"/>
            </a:endParaRPr>
          </a:p>
          <a:p>
            <a:pPr marL="125095" algn="ctr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MISSION</a:t>
            </a:r>
            <a:r>
              <a:rPr sz="2000" b="1" spc="-10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1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DEPARTMENT</a:t>
            </a:r>
            <a:endParaRPr sz="2000">
              <a:latin typeface="Times New Roman"/>
              <a:cs typeface="Times New Roman"/>
            </a:endParaRPr>
          </a:p>
          <a:p>
            <a:pPr marL="469900" marR="53340" indent="-457200">
              <a:lnSpc>
                <a:spcPct val="150000"/>
              </a:lnSpc>
              <a:spcBef>
                <a:spcPts val="45"/>
              </a:spcBef>
            </a:pPr>
            <a:r>
              <a:rPr sz="1800" b="1" dirty="0">
                <a:latin typeface="Times New Roman"/>
                <a:cs typeface="Times New Roman"/>
              </a:rPr>
              <a:t>M1</a:t>
            </a:r>
            <a:r>
              <a:rPr sz="1800" dirty="0">
                <a:latin typeface="Times New Roman"/>
                <a:cs typeface="Times New Roman"/>
              </a:rPr>
              <a:t>.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45" dirty="0">
                <a:latin typeface="Times New Roman"/>
                <a:cs typeface="Times New Roman"/>
              </a:rPr>
              <a:t>To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facilitate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students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profound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technical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knowledge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through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effective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teaching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learning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process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a </a:t>
            </a:r>
            <a:r>
              <a:rPr sz="1800" dirty="0">
                <a:latin typeface="Times New Roman"/>
                <a:cs typeface="Times New Roman"/>
              </a:rPr>
              <a:t>successful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career.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b="1" dirty="0">
                <a:latin typeface="Times New Roman"/>
                <a:cs typeface="Times New Roman"/>
              </a:rPr>
              <a:t>M2</a:t>
            </a:r>
            <a:r>
              <a:rPr sz="1800" dirty="0">
                <a:latin typeface="Times New Roman"/>
                <a:cs typeface="Times New Roman"/>
              </a:rPr>
              <a:t>.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45" dirty="0">
                <a:latin typeface="Times New Roman"/>
                <a:cs typeface="Times New Roman"/>
              </a:rPr>
              <a:t>To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impart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quality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education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strengthen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students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meet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industry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standards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face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confidently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the</a:t>
            </a:r>
            <a:endParaRPr sz="1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Times New Roman"/>
                <a:cs typeface="Times New Roman"/>
              </a:rPr>
              <a:t>challenges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10" dirty="0">
                <a:latin typeface="Times New Roman"/>
                <a:cs typeface="Times New Roman"/>
              </a:rPr>
              <a:t>program.</a:t>
            </a:r>
            <a:endParaRPr sz="1800">
              <a:latin typeface="Times New Roman"/>
              <a:cs typeface="Times New Roman"/>
            </a:endParaRPr>
          </a:p>
          <a:p>
            <a:pPr marL="469900" marR="5080" indent="-457200">
              <a:lnSpc>
                <a:spcPct val="150000"/>
              </a:lnSpc>
            </a:pPr>
            <a:r>
              <a:rPr sz="1800" b="1" dirty="0">
                <a:latin typeface="Times New Roman"/>
                <a:cs typeface="Times New Roman"/>
              </a:rPr>
              <a:t>M3</a:t>
            </a:r>
            <a:r>
              <a:rPr sz="1800" dirty="0">
                <a:latin typeface="Times New Roman"/>
                <a:cs typeface="Times New Roman"/>
              </a:rPr>
              <a:t>.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45" dirty="0">
                <a:latin typeface="Times New Roman"/>
                <a:cs typeface="Times New Roman"/>
              </a:rPr>
              <a:t>To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develop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essence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innovation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research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among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students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faculty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providing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infrastructure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and </a:t>
            </a:r>
            <a:r>
              <a:rPr sz="1800" dirty="0">
                <a:latin typeface="Times New Roman"/>
                <a:cs typeface="Times New Roman"/>
              </a:rPr>
              <a:t>conducive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environment.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b="1" dirty="0">
                <a:latin typeface="Times New Roman"/>
                <a:cs typeface="Times New Roman"/>
              </a:rPr>
              <a:t>M4</a:t>
            </a:r>
            <a:r>
              <a:rPr sz="1800" dirty="0">
                <a:latin typeface="Times New Roman"/>
                <a:cs typeface="Times New Roman"/>
              </a:rPr>
              <a:t>.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To </a:t>
            </a:r>
            <a:r>
              <a:rPr sz="1800" dirty="0">
                <a:latin typeface="Times New Roman"/>
                <a:cs typeface="Times New Roman"/>
              </a:rPr>
              <a:t>inculcate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student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community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ethical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values,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communication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skills</a:t>
            </a:r>
            <a:endParaRPr sz="1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085"/>
              </a:spcBef>
            </a:pPr>
            <a:r>
              <a:rPr sz="1800" dirty="0">
                <a:latin typeface="Times New Roman"/>
                <a:cs typeface="Times New Roman"/>
              </a:rPr>
              <a:t>leadership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qualities,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entrepreneurial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skills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lifelong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learning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meet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societal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needs.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626595" y="3550920"/>
            <a:ext cx="567055" cy="3307079"/>
            <a:chOff x="11626595" y="3550920"/>
            <a:chExt cx="567055" cy="330707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26595" y="3550920"/>
              <a:ext cx="525779" cy="293065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1987783" y="4837176"/>
              <a:ext cx="205740" cy="2021205"/>
            </a:xfrm>
            <a:custGeom>
              <a:avLst/>
              <a:gdLst/>
              <a:ahLst/>
              <a:cxnLst/>
              <a:rect l="l" t="t" r="r" b="b"/>
              <a:pathLst>
                <a:path w="205740" h="2021204">
                  <a:moveTo>
                    <a:pt x="205740" y="0"/>
                  </a:moveTo>
                  <a:lnTo>
                    <a:pt x="0" y="0"/>
                  </a:lnTo>
                  <a:lnTo>
                    <a:pt x="0" y="2020824"/>
                  </a:lnTo>
                  <a:lnTo>
                    <a:pt x="205740" y="2020824"/>
                  </a:lnTo>
                  <a:lnTo>
                    <a:pt x="205740" y="0"/>
                  </a:lnTo>
                  <a:close/>
                </a:path>
              </a:pathLst>
            </a:custGeom>
            <a:solidFill>
              <a:srgbClr val="EB6C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77367" y="384383"/>
            <a:ext cx="10653395" cy="5513705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2400" b="1" dirty="0">
                <a:latin typeface="Times New Roman"/>
                <a:cs typeface="Times New Roman"/>
              </a:rPr>
              <a:t>Project</a:t>
            </a:r>
            <a:r>
              <a:rPr sz="2400" b="1" spc="-1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Work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(Phase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2):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Times New Roman"/>
                <a:cs typeface="Times New Roman"/>
              </a:rPr>
              <a:t>Course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Learning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Objectives: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course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will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enable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students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to:</a:t>
            </a:r>
            <a:endParaRPr sz="2400">
              <a:latin typeface="Times New Roman"/>
              <a:cs typeface="Times New Roman"/>
            </a:endParaRPr>
          </a:p>
          <a:p>
            <a:pPr marL="376555" marR="5080" indent="-364490">
              <a:lnSpc>
                <a:spcPct val="150000"/>
              </a:lnSpc>
              <a:spcBef>
                <a:spcPts val="5"/>
              </a:spcBef>
              <a:buSzPct val="97916"/>
              <a:buAutoNum type="arabicPeriod"/>
              <a:tabLst>
                <a:tab pos="376555" algn="l"/>
                <a:tab pos="1443355" algn="l"/>
                <a:tab pos="2121535" algn="l"/>
                <a:tab pos="3575685" algn="l"/>
                <a:tab pos="5048250" algn="l"/>
                <a:tab pos="5421630" algn="l"/>
                <a:tab pos="5692775" algn="l"/>
                <a:tab pos="6671309" algn="l"/>
                <a:tab pos="7720330" algn="l"/>
                <a:tab pos="8805545" algn="l"/>
                <a:tab pos="10201275" algn="l"/>
              </a:tabLst>
            </a:pPr>
            <a:r>
              <a:rPr sz="2400" spc="-10" dirty="0">
                <a:latin typeface="Times New Roman"/>
                <a:cs typeface="Times New Roman"/>
              </a:rPr>
              <a:t>Prepare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with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foundation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knowledge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in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project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domain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through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designing,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and </a:t>
            </a:r>
            <a:r>
              <a:rPr sz="2400" spc="-10" dirty="0">
                <a:latin typeface="Times New Roman"/>
                <a:cs typeface="Times New Roman"/>
              </a:rPr>
              <a:t>implementing.</a:t>
            </a:r>
            <a:endParaRPr sz="2400">
              <a:latin typeface="Times New Roman"/>
              <a:cs typeface="Times New Roman"/>
            </a:endParaRPr>
          </a:p>
          <a:p>
            <a:pPr marL="317500" indent="-304800">
              <a:lnSpc>
                <a:spcPct val="100000"/>
              </a:lnSpc>
              <a:spcBef>
                <a:spcPts val="1440"/>
              </a:spcBef>
              <a:buSzPct val="97916"/>
              <a:buAutoNum type="arabicPeriod"/>
              <a:tabLst>
                <a:tab pos="317500" algn="l"/>
              </a:tabLst>
            </a:pPr>
            <a:r>
              <a:rPr sz="2400" dirty="0">
                <a:latin typeface="Times New Roman"/>
                <a:cs typeface="Times New Roman"/>
              </a:rPr>
              <a:t>Introduce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various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emerging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fields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electronics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communication.</a:t>
            </a:r>
            <a:endParaRPr sz="2400">
              <a:latin typeface="Times New Roman"/>
              <a:cs typeface="Times New Roman"/>
            </a:endParaRPr>
          </a:p>
          <a:p>
            <a:pPr marL="240665" marR="5080" indent="-236854">
              <a:lnSpc>
                <a:spcPct val="150000"/>
              </a:lnSpc>
              <a:buSzPct val="97916"/>
              <a:buAutoNum type="arabicPeriod"/>
              <a:tabLst>
                <a:tab pos="281940" algn="l"/>
              </a:tabLst>
            </a:pPr>
            <a:r>
              <a:rPr sz="2400" dirty="0">
                <a:latin typeface="Times New Roman"/>
                <a:cs typeface="Times New Roman"/>
              </a:rPr>
              <a:t>Provide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2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opportunity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2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exercise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creative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innovative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qualities,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2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become 	Technopreneurs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group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project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environment.</a:t>
            </a:r>
            <a:endParaRPr sz="2400">
              <a:latin typeface="Times New Roman"/>
              <a:cs typeface="Times New Roman"/>
            </a:endParaRPr>
          </a:p>
          <a:p>
            <a:pPr marL="240665" marR="6350" indent="-236854">
              <a:lnSpc>
                <a:spcPct val="150000"/>
              </a:lnSpc>
              <a:spcBef>
                <a:spcPts val="5"/>
              </a:spcBef>
              <a:buSzPct val="97916"/>
              <a:buAutoNum type="arabicPeriod"/>
              <a:tabLst>
                <a:tab pos="281940" algn="l"/>
                <a:tab pos="1024255" algn="l"/>
                <a:tab pos="2281555" algn="l"/>
                <a:tab pos="3738879" algn="l"/>
                <a:tab pos="4115435" algn="l"/>
                <a:tab pos="4625975" algn="l"/>
                <a:tab pos="5593715" algn="l"/>
                <a:tab pos="6290310" algn="l"/>
                <a:tab pos="6701790" algn="l"/>
                <a:tab pos="7298055" algn="l"/>
                <a:tab pos="8434705" algn="l"/>
                <a:tab pos="8996045" algn="l"/>
                <a:tab pos="10200005" algn="l"/>
              </a:tabLst>
            </a:pPr>
            <a:r>
              <a:rPr sz="2400" spc="-20" dirty="0">
                <a:latin typeface="Times New Roman"/>
                <a:cs typeface="Times New Roman"/>
              </a:rPr>
              <a:t>Have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hands-</a:t>
            </a:r>
            <a:r>
              <a:rPr sz="2400" spc="-35" dirty="0">
                <a:latin typeface="Times New Roman"/>
                <a:cs typeface="Times New Roman"/>
              </a:rPr>
              <a:t>on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experience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in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related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field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so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that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students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can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integrate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and 	</a:t>
            </a:r>
            <a:r>
              <a:rPr sz="2400" dirty="0">
                <a:latin typeface="Times New Roman"/>
                <a:cs typeface="Times New Roman"/>
              </a:rPr>
              <a:t>reinforce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what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been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taught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classroom.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4096" y="139953"/>
            <a:ext cx="36690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INTRODUCTION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9168" y="944016"/>
            <a:ext cx="11378565" cy="505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260350" indent="-28702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Controller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Area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Network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(CAN),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developed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Bosch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1986,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enables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reliable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efficient </a:t>
            </a:r>
            <a:r>
              <a:rPr sz="2200" dirty="0">
                <a:latin typeface="Times New Roman"/>
                <a:cs typeface="Times New Roman"/>
              </a:rPr>
              <a:t>communication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between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multiple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microcontrollers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vehicles,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robotics,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industrial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systems.</a:t>
            </a:r>
            <a:endParaRPr sz="22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320"/>
              </a:spcBef>
              <a:buFont typeface="Arial MT"/>
              <a:buChar char="•"/>
              <a:tabLst>
                <a:tab pos="299085" algn="l"/>
              </a:tabLst>
            </a:pPr>
            <a:r>
              <a:rPr sz="2200" b="1" dirty="0">
                <a:latin typeface="Times New Roman"/>
                <a:cs typeface="Times New Roman"/>
              </a:rPr>
              <a:t>Need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for</a:t>
            </a:r>
            <a:r>
              <a:rPr sz="2200" b="1" spc="-9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CAN</a:t>
            </a:r>
            <a:r>
              <a:rPr sz="2200" b="1" spc="-8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Transceivers:</a:t>
            </a:r>
            <a:endParaRPr sz="2200">
              <a:latin typeface="Times New Roman"/>
              <a:cs typeface="Times New Roman"/>
            </a:endParaRPr>
          </a:p>
          <a:p>
            <a:pPr marL="299085" marR="5080">
              <a:lnSpc>
                <a:spcPct val="150000"/>
              </a:lnSpc>
            </a:pPr>
            <a:r>
              <a:rPr sz="2200" spc="-20" dirty="0">
                <a:latin typeface="Times New Roman"/>
                <a:cs typeface="Times New Roman"/>
              </a:rPr>
              <a:t>A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transceiver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interfaces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controller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bus,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converting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digital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signals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into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differential </a:t>
            </a:r>
            <a:r>
              <a:rPr sz="2200" dirty="0">
                <a:latin typeface="Times New Roman"/>
                <a:cs typeface="Times New Roman"/>
              </a:rPr>
              <a:t>form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while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providing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noise,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short-circuit,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voltage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protection.</a:t>
            </a:r>
            <a:endParaRPr sz="22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325"/>
              </a:spcBef>
              <a:buFont typeface="Arial MT"/>
              <a:buChar char="•"/>
              <a:tabLst>
                <a:tab pos="299085" algn="l"/>
              </a:tabLst>
            </a:pPr>
            <a:r>
              <a:rPr sz="2200" b="1" spc="-25" dirty="0">
                <a:latin typeface="Times New Roman"/>
                <a:cs typeface="Times New Roman"/>
              </a:rPr>
              <a:t>CMOS-</a:t>
            </a:r>
            <a:r>
              <a:rPr sz="2200" b="1" dirty="0">
                <a:latin typeface="Times New Roman"/>
                <a:cs typeface="Times New Roman"/>
              </a:rPr>
              <a:t>Based</a:t>
            </a:r>
            <a:r>
              <a:rPr sz="2200" b="1" spc="5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Design:</a:t>
            </a:r>
            <a:endParaRPr sz="22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latin typeface="Times New Roman"/>
                <a:cs typeface="Times New Roman"/>
              </a:rPr>
              <a:t>This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transceiver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designed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using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0.5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µm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n-well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CMOS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process,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offering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low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power,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low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cost,</a:t>
            </a:r>
            <a:endParaRPr sz="22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high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integration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compared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bipolar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BiCMOS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technologies.</a:t>
            </a:r>
            <a:endParaRPr sz="22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320"/>
              </a:spcBef>
              <a:buFont typeface="Arial MT"/>
              <a:buChar char="•"/>
              <a:tabLst>
                <a:tab pos="299085" algn="l"/>
              </a:tabLst>
            </a:pPr>
            <a:r>
              <a:rPr sz="2200" b="1" dirty="0">
                <a:latin typeface="Times New Roman"/>
                <a:cs typeface="Times New Roman"/>
              </a:rPr>
              <a:t>Main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Features:</a:t>
            </a:r>
            <a:endParaRPr sz="22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includes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transmitter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receiver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circuits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slew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rate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control,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thermal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voltage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protection.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3963" y="6431076"/>
            <a:ext cx="7289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70" dirty="0">
                <a:latin typeface="Tahoma"/>
                <a:cs typeface="Tahoma"/>
              </a:rPr>
              <a:t>12</a:t>
            </a:r>
            <a:r>
              <a:rPr sz="1000" spc="-2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/</a:t>
            </a:r>
            <a:r>
              <a:rPr sz="1000" spc="-204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4</a:t>
            </a:r>
            <a:r>
              <a:rPr sz="1000" spc="-2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/</a:t>
            </a:r>
            <a:r>
              <a:rPr sz="1000" spc="-204" dirty="0">
                <a:latin typeface="Tahoma"/>
                <a:cs typeface="Tahoma"/>
              </a:rPr>
              <a:t> </a:t>
            </a:r>
            <a:r>
              <a:rPr sz="1000" spc="75" dirty="0">
                <a:latin typeface="Tahoma"/>
                <a:cs typeface="Tahoma"/>
              </a:rPr>
              <a:t>2025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504168" y="6431076"/>
            <a:ext cx="990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9730" y="319682"/>
            <a:ext cx="9808561" cy="522675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736975" y="6039408"/>
            <a:ext cx="473138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Block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Diagram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Controller</a:t>
            </a:r>
            <a:r>
              <a:rPr sz="2000" b="1" spc="-1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Area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Network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4713" y="101041"/>
            <a:ext cx="444881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LITERATURE</a:t>
            </a:r>
            <a:r>
              <a:rPr sz="3200" b="1" spc="-1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SURVEY</a:t>
            </a:r>
            <a:endParaRPr sz="32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64985" y="909574"/>
          <a:ext cx="10845163" cy="52685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82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5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3530"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Attribute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EB3"/>
                    </a:solidFill>
                  </a:tcPr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Paper</a:t>
                      </a:r>
                      <a:r>
                        <a:rPr sz="18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EB3"/>
                    </a:solidFill>
                  </a:tcPr>
                </a:tc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Paper</a:t>
                      </a:r>
                      <a:r>
                        <a:rPr sz="18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E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166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Title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10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EB3"/>
                    </a:solidFill>
                  </a:tcPr>
                </a:tc>
                <a:tc>
                  <a:txBody>
                    <a:bodyPr/>
                    <a:lstStyle/>
                    <a:p>
                      <a:pPr marL="29845" marR="11874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Design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Circuits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CMOS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CAN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Transceiver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Chip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Slew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Rate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Control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EFE8"/>
                    </a:solidFill>
                  </a:tcPr>
                </a:tc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166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Implementation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Bus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Protocol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10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Authors</a:t>
                      </a:r>
                      <a:r>
                        <a:rPr sz="18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800" b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Year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EB3"/>
                    </a:solidFill>
                  </a:tcPr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Huihui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Zhan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al.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(2012)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EFE8"/>
                    </a:solidFill>
                  </a:tcPr>
                </a:tc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Shinde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al.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(2014)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21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9209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Publication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Source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E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984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Advanced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Materials</a:t>
                      </a:r>
                      <a:r>
                        <a:rPr sz="18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Research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EFE8"/>
                    </a:solidFill>
                  </a:tcPr>
                </a:tc>
                <a:tc>
                  <a:txBody>
                    <a:bodyPr/>
                    <a:lstStyle/>
                    <a:p>
                      <a:pPr marL="30480" marR="47942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IJRITCC(International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Journal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Recent</a:t>
                      </a:r>
                      <a:r>
                        <a:rPr sz="18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Innovation</a:t>
                      </a:r>
                      <a:r>
                        <a:rPr sz="180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Trends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Computing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Communication)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5475"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Objectives</a:t>
                      </a:r>
                      <a:r>
                        <a:rPr sz="18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 Issues</a:t>
                      </a:r>
                      <a:r>
                        <a:rPr sz="1800" b="1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Addressed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68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EB3"/>
                    </a:solidFill>
                  </a:tcPr>
                </a:tc>
                <a:tc>
                  <a:txBody>
                    <a:bodyPr/>
                    <a:lstStyle/>
                    <a:p>
                      <a:pPr marL="29845" marR="426084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Full-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custom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CMOS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transceiver;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Slew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rate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protection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features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EFE8"/>
                    </a:solidFill>
                  </a:tcPr>
                </a:tc>
                <a:tc>
                  <a:txBody>
                    <a:bodyPr/>
                    <a:lstStyle/>
                    <a:p>
                      <a:pPr marL="30480" marR="4032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Low-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cost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integration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via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SPI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microcontrollers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5475"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Parameters</a:t>
                      </a:r>
                      <a:r>
                        <a:rPr sz="1800" b="1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Evaluated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68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EB3"/>
                    </a:solidFill>
                  </a:tcPr>
                </a:tc>
                <a:tc>
                  <a:txBody>
                    <a:bodyPr/>
                    <a:lstStyle/>
                    <a:p>
                      <a:pPr marL="29845" marR="101346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Slew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rate,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delay,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drive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strength,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temperature</a:t>
                      </a:r>
                      <a:r>
                        <a:rPr sz="18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tolerance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EFE8"/>
                    </a:solidFill>
                  </a:tcPr>
                </a:tc>
                <a:tc>
                  <a:txBody>
                    <a:bodyPr/>
                    <a:lstStyle/>
                    <a:p>
                      <a:pPr marL="30480" marR="817244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Latency,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node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communication integrity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Adaptive</a:t>
                      </a:r>
                      <a:r>
                        <a:rPr sz="1800" b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Technique</a:t>
                      </a:r>
                      <a:r>
                        <a:rPr sz="18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Used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45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EB3"/>
                    </a:solidFill>
                  </a:tcPr>
                </a:tc>
                <a:tc>
                  <a:txBody>
                    <a:bodyPr/>
                    <a:lstStyle/>
                    <a:p>
                      <a:pPr marL="29845" marR="61277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Slew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rate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control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via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Rs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current mirrors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EFE8"/>
                    </a:solidFill>
                  </a:tcPr>
                </a:tc>
                <a:tc>
                  <a:txBody>
                    <a:bodyPr/>
                    <a:lstStyle/>
                    <a:p>
                      <a:pPr marL="30480" marR="44640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SPI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via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MCP2515,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modular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ECU-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topology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Drawbacks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45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EB3"/>
                    </a:solidFill>
                  </a:tcPr>
                </a:tc>
                <a:tc>
                  <a:txBody>
                    <a:bodyPr/>
                    <a:lstStyle/>
                    <a:p>
                      <a:pPr marL="29845" marR="23939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Focused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analog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layer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only,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digital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controller</a:t>
                      </a:r>
                      <a:r>
                        <a:rPr sz="18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integration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EFE8"/>
                    </a:solidFill>
                  </a:tcPr>
                </a:tc>
                <a:tc>
                  <a:txBody>
                    <a:bodyPr/>
                    <a:lstStyle/>
                    <a:p>
                      <a:pPr marL="30480" marR="23114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scalable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spc="-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ASIC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SoC,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MCU-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only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focus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25475"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133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Open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Issues</a:t>
                      </a:r>
                      <a:r>
                        <a:rPr sz="18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 Improvements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69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EB3"/>
                    </a:solidFill>
                  </a:tcPr>
                </a:tc>
                <a:tc>
                  <a:txBody>
                    <a:bodyPr/>
                    <a:lstStyle/>
                    <a:p>
                      <a:pPr marL="29845" marR="2571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Combine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digital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core,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enable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SoC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design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EFE8"/>
                    </a:solidFill>
                  </a:tcPr>
                </a:tc>
                <a:tc>
                  <a:txBody>
                    <a:bodyPr/>
                    <a:lstStyle/>
                    <a:p>
                      <a:pPr marL="30480" marR="55499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Add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EMI,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fault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tolerance;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port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hardware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663" y="6448470"/>
            <a:ext cx="70358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60"/>
              </a:lnSpc>
            </a:pPr>
            <a:r>
              <a:rPr sz="1000" spc="70" dirty="0">
                <a:latin typeface="Tahoma"/>
                <a:cs typeface="Tahoma"/>
              </a:rPr>
              <a:t>12</a:t>
            </a:r>
            <a:r>
              <a:rPr sz="1000" spc="-2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/</a:t>
            </a:r>
            <a:r>
              <a:rPr sz="1000" spc="-204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4</a:t>
            </a:r>
            <a:r>
              <a:rPr sz="1000" spc="-2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/</a:t>
            </a:r>
            <a:r>
              <a:rPr sz="1000" spc="-204" dirty="0">
                <a:latin typeface="Tahoma"/>
                <a:cs typeface="Tahoma"/>
              </a:rPr>
              <a:t> </a:t>
            </a:r>
            <a:r>
              <a:rPr sz="1000" spc="75" dirty="0">
                <a:latin typeface="Tahoma"/>
                <a:cs typeface="Tahoma"/>
              </a:rPr>
              <a:t>2025</a:t>
            </a:r>
            <a:endParaRPr sz="1000">
              <a:latin typeface="Tahoma"/>
              <a:cs typeface="Tahom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33019" y="204597"/>
          <a:ext cx="11514453" cy="64331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5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62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62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9734"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Attribute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BD6BB"/>
                    </a:solidFill>
                  </a:tcPr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Paper</a:t>
                      </a:r>
                      <a:r>
                        <a:rPr sz="16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BD6BB"/>
                    </a:solidFill>
                  </a:tcPr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Paper</a:t>
                      </a:r>
                      <a:r>
                        <a:rPr sz="16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BD6BB"/>
                    </a:solidFill>
                  </a:tcPr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Paper</a:t>
                      </a: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 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971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BD6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Title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49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BD6BB"/>
                    </a:solidFill>
                  </a:tcPr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Design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Verification</a:t>
                      </a:r>
                      <a:r>
                        <a:rPr sz="16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CAN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9209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Controller for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Custom</a:t>
                      </a:r>
                      <a:r>
                        <a:rPr sz="16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ASIC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Design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Method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Bus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98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Electric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Vehicle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4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FPGA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Implementation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CAN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984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Protocol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40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Automobiles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3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9209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Authors</a:t>
                      </a:r>
                      <a:r>
                        <a:rPr sz="16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600" b="1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20" dirty="0">
                          <a:latin typeface="Times New Roman"/>
                          <a:cs typeface="Times New Roman"/>
                        </a:rPr>
                        <a:t>Year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BD6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9209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Namsub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Kim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al.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(2005)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984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Li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Ran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al.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(2010)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98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Pardeep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Kaur,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Chanpreet</a:t>
                      </a:r>
                      <a:r>
                        <a:rPr sz="14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Toor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(2017)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45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2770"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Publication</a:t>
                      </a:r>
                      <a:r>
                        <a:rPr sz="16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6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Source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58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BD6BB"/>
                    </a:solidFill>
                  </a:tcPr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ICC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60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Automation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58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IFOST</a:t>
                      </a:r>
                      <a:r>
                        <a:rPr sz="16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IEEE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Conf.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58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 marR="27368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AJBAS(Australian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Journal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Basic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Applied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Sciences)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20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9209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Objectives</a:t>
                      </a:r>
                      <a:r>
                        <a:rPr sz="16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6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Issues</a:t>
                      </a:r>
                      <a:r>
                        <a:rPr sz="1600" b="1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Addressed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BD6BB"/>
                    </a:solidFill>
                  </a:tcPr>
                </a:tc>
                <a:tc>
                  <a:txBody>
                    <a:bodyPr/>
                    <a:lstStyle/>
                    <a:p>
                      <a:pPr marL="29209" marR="377825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ASIC-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optimized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16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IP,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ISO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conformance,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low</a:t>
                      </a:r>
                      <a:r>
                        <a:rPr sz="16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gate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count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51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 marR="218440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SAE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J1939-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compliant</a:t>
                      </a:r>
                      <a:r>
                        <a:rPr sz="16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EV</a:t>
                      </a:r>
                      <a:r>
                        <a:rPr sz="16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CAN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topology</a:t>
                      </a:r>
                      <a:r>
                        <a:rPr sz="16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protocol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51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 marR="233679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FPGA-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dynamic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scheduling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messages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82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0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9209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Parameters</a:t>
                      </a:r>
                      <a:r>
                        <a:rPr sz="16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Evaluated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BD6BB"/>
                    </a:solidFill>
                  </a:tcPr>
                </a:tc>
                <a:tc>
                  <a:txBody>
                    <a:bodyPr/>
                    <a:lstStyle/>
                    <a:p>
                      <a:pPr marL="29209" marR="607060">
                        <a:lnSpc>
                          <a:spcPct val="100000"/>
                        </a:lnSpc>
                        <a:spcBef>
                          <a:spcPts val="134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Gate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count,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error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detection,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conformance</a:t>
                      </a:r>
                      <a:r>
                        <a:rPr sz="16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testing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70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 marR="263525">
                        <a:lnSpc>
                          <a:spcPct val="100000"/>
                        </a:lnSpc>
                        <a:spcBef>
                          <a:spcPts val="134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Node</a:t>
                      </a:r>
                      <a:r>
                        <a:rPr sz="16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mapping,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frame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integrity,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transmission</a:t>
                      </a:r>
                      <a:r>
                        <a:rPr sz="16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stability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70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159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Response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time,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bit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count,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deadline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9845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alignment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2019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134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9209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Adaptive</a:t>
                      </a:r>
                      <a:r>
                        <a:rPr sz="16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20" dirty="0">
                          <a:latin typeface="Times New Roman"/>
                          <a:cs typeface="Times New Roman"/>
                        </a:rPr>
                        <a:t>Technique</a:t>
                      </a:r>
                      <a:r>
                        <a:rPr sz="16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20" dirty="0">
                          <a:latin typeface="Times New Roman"/>
                          <a:cs typeface="Times New Roman"/>
                        </a:rPr>
                        <a:t>Used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BD6BB"/>
                    </a:solidFill>
                  </a:tcPr>
                </a:tc>
                <a:tc>
                  <a:txBody>
                    <a:bodyPr/>
                    <a:lstStyle/>
                    <a:p>
                      <a:pPr marL="29209" marR="490855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Modular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verification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6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FIFO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buffer</a:t>
                      </a:r>
                      <a:r>
                        <a:rPr sz="16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architecture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57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 marR="751840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SAE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J1939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extension,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ID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mapping</a:t>
                      </a:r>
                      <a:r>
                        <a:rPr sz="16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table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57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 marR="278765">
                        <a:lnSpc>
                          <a:spcPct val="100000"/>
                        </a:lnSpc>
                        <a:spcBef>
                          <a:spcPts val="148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Dynamic ID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window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arbitration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scheduling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885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02310"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Drawbacks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235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BD6BB"/>
                    </a:solidFill>
                  </a:tcPr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Limited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flexibility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6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legacy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CAN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9209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mode;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complex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verification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circuit-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level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simulation</a:t>
                      </a:r>
                      <a:r>
                        <a:rPr sz="16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or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984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noise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analysis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Doesn’t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include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physical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layer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9845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modeling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020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9209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Open</a:t>
                      </a:r>
                      <a:r>
                        <a:rPr sz="16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Issues</a:t>
                      </a:r>
                      <a:r>
                        <a:rPr sz="16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6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Improvements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BD6BB"/>
                    </a:solidFill>
                  </a:tcPr>
                </a:tc>
                <a:tc>
                  <a:txBody>
                    <a:bodyPr/>
                    <a:lstStyle/>
                    <a:p>
                      <a:pPr marL="29209" marR="254635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Extend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FD,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modular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IP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reuse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via</a:t>
                      </a:r>
                      <a:r>
                        <a:rPr sz="16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AI-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driven</a:t>
                      </a:r>
                      <a:r>
                        <a:rPr sz="16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arbitration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 marR="358775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Add</a:t>
                      </a:r>
                      <a:r>
                        <a:rPr sz="1600" spc="-55" dirty="0">
                          <a:latin typeface="Times New Roman"/>
                          <a:cs typeface="Times New Roman"/>
                        </a:rPr>
                        <a:t> PHY-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layer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simulation</a:t>
                      </a:r>
                      <a:r>
                        <a:rPr sz="16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EMI/noise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robustness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 marR="254635">
                        <a:lnSpc>
                          <a:spcPct val="100000"/>
                        </a:lnSpc>
                        <a:spcBef>
                          <a:spcPts val="605"/>
                        </a:spcBef>
                        <a:tabLst>
                          <a:tab pos="2519680" algn="l"/>
                        </a:tabLst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Combine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analog driver/transceiver</a:t>
                      </a:r>
                      <a:r>
                        <a:rPr sz="14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4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full-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stack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implementation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500" spc="-75" baseline="-19444" dirty="0">
                          <a:latin typeface="Tahoma"/>
                          <a:cs typeface="Tahoma"/>
                        </a:rPr>
                        <a:t>7</a:t>
                      </a:r>
                      <a:endParaRPr sz="1500" baseline="-19444">
                        <a:latin typeface="Tahoma"/>
                        <a:cs typeface="Tahoma"/>
                      </a:endParaRPr>
                    </a:p>
                  </a:txBody>
                  <a:tcPr marL="0" marR="0" marT="768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7817" rIns="0" bIns="0" rtlCol="0">
            <a:spAutoFit/>
          </a:bodyPr>
          <a:lstStyle/>
          <a:p>
            <a:pPr marL="511175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C00000"/>
                </a:solidFill>
                <a:latin typeface="Times New Roman"/>
                <a:cs typeface="Times New Roman"/>
              </a:rPr>
              <a:t>PROBLEM</a:t>
            </a:r>
            <a:r>
              <a:rPr sz="3200" b="1" spc="-1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2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IDENTIFICATION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33627" y="1005839"/>
            <a:ext cx="4032885" cy="1805939"/>
          </a:xfrm>
          <a:custGeom>
            <a:avLst/>
            <a:gdLst/>
            <a:ahLst/>
            <a:cxnLst/>
            <a:rect l="l" t="t" r="r" b="b"/>
            <a:pathLst>
              <a:path w="4032885" h="1805939">
                <a:moveTo>
                  <a:pt x="0" y="300989"/>
                </a:moveTo>
                <a:lnTo>
                  <a:pt x="3939" y="252165"/>
                </a:lnTo>
                <a:lnTo>
                  <a:pt x="15344" y="205849"/>
                </a:lnTo>
                <a:lnTo>
                  <a:pt x="33596" y="162662"/>
                </a:lnTo>
                <a:lnTo>
                  <a:pt x="58074" y="123224"/>
                </a:lnTo>
                <a:lnTo>
                  <a:pt x="88158" y="88153"/>
                </a:lnTo>
                <a:lnTo>
                  <a:pt x="123230" y="58070"/>
                </a:lnTo>
                <a:lnTo>
                  <a:pt x="162668" y="33593"/>
                </a:lnTo>
                <a:lnTo>
                  <a:pt x="205854" y="15343"/>
                </a:lnTo>
                <a:lnTo>
                  <a:pt x="252168" y="3939"/>
                </a:lnTo>
                <a:lnTo>
                  <a:pt x="300990" y="0"/>
                </a:lnTo>
                <a:lnTo>
                  <a:pt x="3731514" y="0"/>
                </a:lnTo>
                <a:lnTo>
                  <a:pt x="3780338" y="3939"/>
                </a:lnTo>
                <a:lnTo>
                  <a:pt x="3826654" y="15343"/>
                </a:lnTo>
                <a:lnTo>
                  <a:pt x="3869841" y="33593"/>
                </a:lnTo>
                <a:lnTo>
                  <a:pt x="3909279" y="58070"/>
                </a:lnTo>
                <a:lnTo>
                  <a:pt x="3944350" y="88153"/>
                </a:lnTo>
                <a:lnTo>
                  <a:pt x="3974433" y="123224"/>
                </a:lnTo>
                <a:lnTo>
                  <a:pt x="3998910" y="162662"/>
                </a:lnTo>
                <a:lnTo>
                  <a:pt x="4017160" y="205849"/>
                </a:lnTo>
                <a:lnTo>
                  <a:pt x="4028564" y="252165"/>
                </a:lnTo>
                <a:lnTo>
                  <a:pt x="4032504" y="300989"/>
                </a:lnTo>
                <a:lnTo>
                  <a:pt x="4032504" y="1504950"/>
                </a:lnTo>
                <a:lnTo>
                  <a:pt x="4028564" y="1553774"/>
                </a:lnTo>
                <a:lnTo>
                  <a:pt x="4017160" y="1600090"/>
                </a:lnTo>
                <a:lnTo>
                  <a:pt x="3998910" y="1643277"/>
                </a:lnTo>
                <a:lnTo>
                  <a:pt x="3974433" y="1682715"/>
                </a:lnTo>
                <a:lnTo>
                  <a:pt x="3944350" y="1717786"/>
                </a:lnTo>
                <a:lnTo>
                  <a:pt x="3909279" y="1747869"/>
                </a:lnTo>
                <a:lnTo>
                  <a:pt x="3869841" y="1772346"/>
                </a:lnTo>
                <a:lnTo>
                  <a:pt x="3826654" y="1790596"/>
                </a:lnTo>
                <a:lnTo>
                  <a:pt x="3780338" y="1802000"/>
                </a:lnTo>
                <a:lnTo>
                  <a:pt x="3731514" y="1805939"/>
                </a:lnTo>
                <a:lnTo>
                  <a:pt x="300990" y="1805939"/>
                </a:lnTo>
                <a:lnTo>
                  <a:pt x="252168" y="1802000"/>
                </a:lnTo>
                <a:lnTo>
                  <a:pt x="205854" y="1790596"/>
                </a:lnTo>
                <a:lnTo>
                  <a:pt x="162668" y="1772346"/>
                </a:lnTo>
                <a:lnTo>
                  <a:pt x="123230" y="1747869"/>
                </a:lnTo>
                <a:lnTo>
                  <a:pt x="88158" y="1717786"/>
                </a:lnTo>
                <a:lnTo>
                  <a:pt x="58074" y="1682715"/>
                </a:lnTo>
                <a:lnTo>
                  <a:pt x="33596" y="1643277"/>
                </a:lnTo>
                <a:lnTo>
                  <a:pt x="15344" y="1600090"/>
                </a:lnTo>
                <a:lnTo>
                  <a:pt x="3939" y="1553774"/>
                </a:lnTo>
                <a:lnTo>
                  <a:pt x="0" y="1504950"/>
                </a:lnTo>
                <a:lnTo>
                  <a:pt x="0" y="300989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182867" y="3279647"/>
            <a:ext cx="4032885" cy="1807845"/>
          </a:xfrm>
          <a:custGeom>
            <a:avLst/>
            <a:gdLst/>
            <a:ahLst/>
            <a:cxnLst/>
            <a:rect l="l" t="t" r="r" b="b"/>
            <a:pathLst>
              <a:path w="4032884" h="1807845">
                <a:moveTo>
                  <a:pt x="0" y="301243"/>
                </a:moveTo>
                <a:lnTo>
                  <a:pt x="3942" y="252381"/>
                </a:lnTo>
                <a:lnTo>
                  <a:pt x="15357" y="206028"/>
                </a:lnTo>
                <a:lnTo>
                  <a:pt x="33624" y="162806"/>
                </a:lnTo>
                <a:lnTo>
                  <a:pt x="58123" y="123334"/>
                </a:lnTo>
                <a:lnTo>
                  <a:pt x="88233" y="88233"/>
                </a:lnTo>
                <a:lnTo>
                  <a:pt x="123334" y="58123"/>
                </a:lnTo>
                <a:lnTo>
                  <a:pt x="162806" y="33624"/>
                </a:lnTo>
                <a:lnTo>
                  <a:pt x="206028" y="15357"/>
                </a:lnTo>
                <a:lnTo>
                  <a:pt x="252381" y="3942"/>
                </a:lnTo>
                <a:lnTo>
                  <a:pt x="301244" y="0"/>
                </a:lnTo>
                <a:lnTo>
                  <a:pt x="3731260" y="0"/>
                </a:lnTo>
                <a:lnTo>
                  <a:pt x="3780122" y="3942"/>
                </a:lnTo>
                <a:lnTo>
                  <a:pt x="3826475" y="15357"/>
                </a:lnTo>
                <a:lnTo>
                  <a:pt x="3869697" y="33624"/>
                </a:lnTo>
                <a:lnTo>
                  <a:pt x="3909169" y="58123"/>
                </a:lnTo>
                <a:lnTo>
                  <a:pt x="3944270" y="88233"/>
                </a:lnTo>
                <a:lnTo>
                  <a:pt x="3974380" y="123334"/>
                </a:lnTo>
                <a:lnTo>
                  <a:pt x="3998879" y="162806"/>
                </a:lnTo>
                <a:lnTo>
                  <a:pt x="4017146" y="206028"/>
                </a:lnTo>
                <a:lnTo>
                  <a:pt x="4028561" y="252381"/>
                </a:lnTo>
                <a:lnTo>
                  <a:pt x="4032504" y="301243"/>
                </a:lnTo>
                <a:lnTo>
                  <a:pt x="4032504" y="1506220"/>
                </a:lnTo>
                <a:lnTo>
                  <a:pt x="4028561" y="1555082"/>
                </a:lnTo>
                <a:lnTo>
                  <a:pt x="4017146" y="1601435"/>
                </a:lnTo>
                <a:lnTo>
                  <a:pt x="3998879" y="1644657"/>
                </a:lnTo>
                <a:lnTo>
                  <a:pt x="3974380" y="1684129"/>
                </a:lnTo>
                <a:lnTo>
                  <a:pt x="3944270" y="1719230"/>
                </a:lnTo>
                <a:lnTo>
                  <a:pt x="3909169" y="1749340"/>
                </a:lnTo>
                <a:lnTo>
                  <a:pt x="3869697" y="1773839"/>
                </a:lnTo>
                <a:lnTo>
                  <a:pt x="3826475" y="1792106"/>
                </a:lnTo>
                <a:lnTo>
                  <a:pt x="3780122" y="1803521"/>
                </a:lnTo>
                <a:lnTo>
                  <a:pt x="3731260" y="1807464"/>
                </a:lnTo>
                <a:lnTo>
                  <a:pt x="301244" y="1807464"/>
                </a:lnTo>
                <a:lnTo>
                  <a:pt x="252381" y="1803521"/>
                </a:lnTo>
                <a:lnTo>
                  <a:pt x="206028" y="1792106"/>
                </a:lnTo>
                <a:lnTo>
                  <a:pt x="162806" y="1773839"/>
                </a:lnTo>
                <a:lnTo>
                  <a:pt x="123334" y="1749340"/>
                </a:lnTo>
                <a:lnTo>
                  <a:pt x="88233" y="1719230"/>
                </a:lnTo>
                <a:lnTo>
                  <a:pt x="58123" y="1684129"/>
                </a:lnTo>
                <a:lnTo>
                  <a:pt x="33624" y="1644657"/>
                </a:lnTo>
                <a:lnTo>
                  <a:pt x="15357" y="1601435"/>
                </a:lnTo>
                <a:lnTo>
                  <a:pt x="3942" y="1555082"/>
                </a:lnTo>
                <a:lnTo>
                  <a:pt x="0" y="1506220"/>
                </a:lnTo>
                <a:lnTo>
                  <a:pt x="0" y="301243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507226" y="3301060"/>
            <a:ext cx="3281045" cy="1672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7314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5.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Lack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 </a:t>
            </a:r>
            <a:r>
              <a:rPr sz="1800" b="1" spc="-10" dirty="0">
                <a:latin typeface="Times New Roman"/>
                <a:cs typeface="Times New Roman"/>
              </a:rPr>
              <a:t>Real-</a:t>
            </a:r>
            <a:r>
              <a:rPr sz="1800" b="1" dirty="0">
                <a:latin typeface="Times New Roman"/>
                <a:cs typeface="Times New Roman"/>
              </a:rPr>
              <a:t>Time </a:t>
            </a:r>
            <a:r>
              <a:rPr sz="1800" b="1" spc="-10" dirty="0">
                <a:latin typeface="Times New Roman"/>
                <a:cs typeface="Times New Roman"/>
              </a:rPr>
              <a:t>Support </a:t>
            </a:r>
            <a:r>
              <a:rPr sz="1800" spc="-30" dirty="0">
                <a:latin typeface="Times New Roman"/>
                <a:cs typeface="Times New Roman"/>
              </a:rPr>
              <a:t>Time-</a:t>
            </a:r>
            <a:r>
              <a:rPr sz="1800" dirty="0">
                <a:latin typeface="Times New Roman"/>
                <a:cs typeface="Times New Roman"/>
              </a:rPr>
              <a:t>critical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(e.g.,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engine </a:t>
            </a:r>
            <a:r>
              <a:rPr sz="1800" dirty="0">
                <a:latin typeface="Times New Roman"/>
                <a:cs typeface="Times New Roman"/>
              </a:rPr>
              <a:t>control)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need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deterministic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data </a:t>
            </a:r>
            <a:r>
              <a:rPr sz="1800" b="1" spc="-10" dirty="0">
                <a:latin typeface="Times New Roman"/>
                <a:cs typeface="Times New Roman"/>
              </a:rPr>
              <a:t>transmission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Times New Roman"/>
                <a:cs typeface="Times New Roman"/>
              </a:rPr>
              <a:t>Older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protocols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failed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meet </a:t>
            </a:r>
            <a:r>
              <a:rPr sz="1800" b="1" spc="-10" dirty="0">
                <a:latin typeface="Times New Roman"/>
                <a:cs typeface="Times New Roman"/>
              </a:rPr>
              <a:t>real-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Times New Roman"/>
                <a:cs typeface="Times New Roman"/>
              </a:rPr>
              <a:t>time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performance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needs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245352" y="966216"/>
            <a:ext cx="4034154" cy="1805939"/>
          </a:xfrm>
          <a:custGeom>
            <a:avLst/>
            <a:gdLst/>
            <a:ahLst/>
            <a:cxnLst/>
            <a:rect l="l" t="t" r="r" b="b"/>
            <a:pathLst>
              <a:path w="4034154" h="1805939">
                <a:moveTo>
                  <a:pt x="0" y="300989"/>
                </a:moveTo>
                <a:lnTo>
                  <a:pt x="3939" y="252165"/>
                </a:lnTo>
                <a:lnTo>
                  <a:pt x="15343" y="205849"/>
                </a:lnTo>
                <a:lnTo>
                  <a:pt x="33593" y="162662"/>
                </a:lnTo>
                <a:lnTo>
                  <a:pt x="58070" y="123224"/>
                </a:lnTo>
                <a:lnTo>
                  <a:pt x="88153" y="88153"/>
                </a:lnTo>
                <a:lnTo>
                  <a:pt x="123224" y="58070"/>
                </a:lnTo>
                <a:lnTo>
                  <a:pt x="162662" y="33593"/>
                </a:lnTo>
                <a:lnTo>
                  <a:pt x="205849" y="15343"/>
                </a:lnTo>
                <a:lnTo>
                  <a:pt x="252165" y="3939"/>
                </a:lnTo>
                <a:lnTo>
                  <a:pt x="300990" y="0"/>
                </a:lnTo>
                <a:lnTo>
                  <a:pt x="3733038" y="0"/>
                </a:lnTo>
                <a:lnTo>
                  <a:pt x="3781862" y="3939"/>
                </a:lnTo>
                <a:lnTo>
                  <a:pt x="3828178" y="15343"/>
                </a:lnTo>
                <a:lnTo>
                  <a:pt x="3871365" y="33593"/>
                </a:lnTo>
                <a:lnTo>
                  <a:pt x="3910803" y="58070"/>
                </a:lnTo>
                <a:lnTo>
                  <a:pt x="3945874" y="88153"/>
                </a:lnTo>
                <a:lnTo>
                  <a:pt x="3975957" y="123224"/>
                </a:lnTo>
                <a:lnTo>
                  <a:pt x="4000434" y="162662"/>
                </a:lnTo>
                <a:lnTo>
                  <a:pt x="4018684" y="205849"/>
                </a:lnTo>
                <a:lnTo>
                  <a:pt x="4030088" y="252165"/>
                </a:lnTo>
                <a:lnTo>
                  <a:pt x="4034028" y="300989"/>
                </a:lnTo>
                <a:lnTo>
                  <a:pt x="4034028" y="1504950"/>
                </a:lnTo>
                <a:lnTo>
                  <a:pt x="4030088" y="1553774"/>
                </a:lnTo>
                <a:lnTo>
                  <a:pt x="4018684" y="1600090"/>
                </a:lnTo>
                <a:lnTo>
                  <a:pt x="4000434" y="1643277"/>
                </a:lnTo>
                <a:lnTo>
                  <a:pt x="3975957" y="1682715"/>
                </a:lnTo>
                <a:lnTo>
                  <a:pt x="3945874" y="1717786"/>
                </a:lnTo>
                <a:lnTo>
                  <a:pt x="3910803" y="1747869"/>
                </a:lnTo>
                <a:lnTo>
                  <a:pt x="3871365" y="1772346"/>
                </a:lnTo>
                <a:lnTo>
                  <a:pt x="3828178" y="1790596"/>
                </a:lnTo>
                <a:lnTo>
                  <a:pt x="3781862" y="1802000"/>
                </a:lnTo>
                <a:lnTo>
                  <a:pt x="3733038" y="1805939"/>
                </a:lnTo>
                <a:lnTo>
                  <a:pt x="300990" y="1805939"/>
                </a:lnTo>
                <a:lnTo>
                  <a:pt x="252165" y="1802000"/>
                </a:lnTo>
                <a:lnTo>
                  <a:pt x="205849" y="1790596"/>
                </a:lnTo>
                <a:lnTo>
                  <a:pt x="162662" y="1772346"/>
                </a:lnTo>
                <a:lnTo>
                  <a:pt x="123224" y="1747869"/>
                </a:lnTo>
                <a:lnTo>
                  <a:pt x="88153" y="1717786"/>
                </a:lnTo>
                <a:lnTo>
                  <a:pt x="58070" y="1682715"/>
                </a:lnTo>
                <a:lnTo>
                  <a:pt x="33593" y="1643277"/>
                </a:lnTo>
                <a:lnTo>
                  <a:pt x="15343" y="1600090"/>
                </a:lnTo>
                <a:lnTo>
                  <a:pt x="3939" y="1553774"/>
                </a:lnTo>
                <a:lnTo>
                  <a:pt x="0" y="1504950"/>
                </a:lnTo>
                <a:lnTo>
                  <a:pt x="0" y="300989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390259" y="1090676"/>
            <a:ext cx="349313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4.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Scalability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Limitations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Difficult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integrate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new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devices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into</a:t>
            </a:r>
            <a:endParaRPr sz="1800">
              <a:latin typeface="Times New Roman"/>
              <a:cs typeface="Times New Roman"/>
            </a:endParaRPr>
          </a:p>
          <a:p>
            <a:pPr marL="12700" marR="97663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existing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networks</a:t>
            </a:r>
            <a:r>
              <a:rPr sz="1800" spc="5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Required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major</a:t>
            </a:r>
            <a:r>
              <a:rPr sz="1800" b="1" spc="-8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hardware modifications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77824" y="4974335"/>
            <a:ext cx="4034154" cy="1805939"/>
          </a:xfrm>
          <a:custGeom>
            <a:avLst/>
            <a:gdLst/>
            <a:ahLst/>
            <a:cxnLst/>
            <a:rect l="l" t="t" r="r" b="b"/>
            <a:pathLst>
              <a:path w="4034154" h="1805940">
                <a:moveTo>
                  <a:pt x="0" y="300989"/>
                </a:moveTo>
                <a:lnTo>
                  <a:pt x="3939" y="252165"/>
                </a:lnTo>
                <a:lnTo>
                  <a:pt x="15344" y="205849"/>
                </a:lnTo>
                <a:lnTo>
                  <a:pt x="33596" y="162662"/>
                </a:lnTo>
                <a:lnTo>
                  <a:pt x="58074" y="123224"/>
                </a:lnTo>
                <a:lnTo>
                  <a:pt x="88158" y="88153"/>
                </a:lnTo>
                <a:lnTo>
                  <a:pt x="123230" y="58070"/>
                </a:lnTo>
                <a:lnTo>
                  <a:pt x="162668" y="33593"/>
                </a:lnTo>
                <a:lnTo>
                  <a:pt x="205854" y="15343"/>
                </a:lnTo>
                <a:lnTo>
                  <a:pt x="252168" y="3939"/>
                </a:lnTo>
                <a:lnTo>
                  <a:pt x="300989" y="0"/>
                </a:lnTo>
                <a:lnTo>
                  <a:pt x="3733038" y="0"/>
                </a:lnTo>
                <a:lnTo>
                  <a:pt x="3781862" y="3939"/>
                </a:lnTo>
                <a:lnTo>
                  <a:pt x="3828178" y="15343"/>
                </a:lnTo>
                <a:lnTo>
                  <a:pt x="3871365" y="33593"/>
                </a:lnTo>
                <a:lnTo>
                  <a:pt x="3910803" y="58070"/>
                </a:lnTo>
                <a:lnTo>
                  <a:pt x="3945874" y="88153"/>
                </a:lnTo>
                <a:lnTo>
                  <a:pt x="3975957" y="123224"/>
                </a:lnTo>
                <a:lnTo>
                  <a:pt x="4000434" y="162662"/>
                </a:lnTo>
                <a:lnTo>
                  <a:pt x="4018684" y="205849"/>
                </a:lnTo>
                <a:lnTo>
                  <a:pt x="4030088" y="252165"/>
                </a:lnTo>
                <a:lnTo>
                  <a:pt x="4034028" y="300989"/>
                </a:lnTo>
                <a:lnTo>
                  <a:pt x="4034028" y="1504950"/>
                </a:lnTo>
                <a:lnTo>
                  <a:pt x="4030088" y="1553771"/>
                </a:lnTo>
                <a:lnTo>
                  <a:pt x="4018684" y="1600085"/>
                </a:lnTo>
                <a:lnTo>
                  <a:pt x="4000434" y="1643271"/>
                </a:lnTo>
                <a:lnTo>
                  <a:pt x="3975957" y="1682709"/>
                </a:lnTo>
                <a:lnTo>
                  <a:pt x="3945874" y="1717780"/>
                </a:lnTo>
                <a:lnTo>
                  <a:pt x="3910803" y="1747865"/>
                </a:lnTo>
                <a:lnTo>
                  <a:pt x="3871365" y="1772342"/>
                </a:lnTo>
                <a:lnTo>
                  <a:pt x="3828178" y="1790594"/>
                </a:lnTo>
                <a:lnTo>
                  <a:pt x="3781862" y="1801999"/>
                </a:lnTo>
                <a:lnTo>
                  <a:pt x="3733038" y="1805938"/>
                </a:lnTo>
                <a:lnTo>
                  <a:pt x="300989" y="1805938"/>
                </a:lnTo>
                <a:lnTo>
                  <a:pt x="252168" y="1801999"/>
                </a:lnTo>
                <a:lnTo>
                  <a:pt x="205854" y="1790594"/>
                </a:lnTo>
                <a:lnTo>
                  <a:pt x="162668" y="1772342"/>
                </a:lnTo>
                <a:lnTo>
                  <a:pt x="123230" y="1747865"/>
                </a:lnTo>
                <a:lnTo>
                  <a:pt x="88158" y="1717780"/>
                </a:lnTo>
                <a:lnTo>
                  <a:pt x="58074" y="1682709"/>
                </a:lnTo>
                <a:lnTo>
                  <a:pt x="33596" y="1643271"/>
                </a:lnTo>
                <a:lnTo>
                  <a:pt x="15344" y="1600085"/>
                </a:lnTo>
                <a:lnTo>
                  <a:pt x="3939" y="1553771"/>
                </a:lnTo>
                <a:lnTo>
                  <a:pt x="0" y="1504950"/>
                </a:lnTo>
                <a:lnTo>
                  <a:pt x="0" y="300989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64108" y="3034283"/>
            <a:ext cx="4034154" cy="1807845"/>
          </a:xfrm>
          <a:custGeom>
            <a:avLst/>
            <a:gdLst/>
            <a:ahLst/>
            <a:cxnLst/>
            <a:rect l="l" t="t" r="r" b="b"/>
            <a:pathLst>
              <a:path w="4034154" h="1807845">
                <a:moveTo>
                  <a:pt x="0" y="301243"/>
                </a:moveTo>
                <a:lnTo>
                  <a:pt x="3942" y="252381"/>
                </a:lnTo>
                <a:lnTo>
                  <a:pt x="15357" y="206028"/>
                </a:lnTo>
                <a:lnTo>
                  <a:pt x="33625" y="162806"/>
                </a:lnTo>
                <a:lnTo>
                  <a:pt x="58124" y="123334"/>
                </a:lnTo>
                <a:lnTo>
                  <a:pt x="88234" y="88233"/>
                </a:lnTo>
                <a:lnTo>
                  <a:pt x="123337" y="58123"/>
                </a:lnTo>
                <a:lnTo>
                  <a:pt x="162810" y="33624"/>
                </a:lnTo>
                <a:lnTo>
                  <a:pt x="206035" y="15357"/>
                </a:lnTo>
                <a:lnTo>
                  <a:pt x="252390" y="3942"/>
                </a:lnTo>
                <a:lnTo>
                  <a:pt x="301256" y="0"/>
                </a:lnTo>
                <a:lnTo>
                  <a:pt x="3732783" y="0"/>
                </a:lnTo>
                <a:lnTo>
                  <a:pt x="3781646" y="3942"/>
                </a:lnTo>
                <a:lnTo>
                  <a:pt x="3827999" y="15357"/>
                </a:lnTo>
                <a:lnTo>
                  <a:pt x="3871221" y="33624"/>
                </a:lnTo>
                <a:lnTo>
                  <a:pt x="3910693" y="58123"/>
                </a:lnTo>
                <a:lnTo>
                  <a:pt x="3945794" y="88233"/>
                </a:lnTo>
                <a:lnTo>
                  <a:pt x="3975904" y="123334"/>
                </a:lnTo>
                <a:lnTo>
                  <a:pt x="4000403" y="162806"/>
                </a:lnTo>
                <a:lnTo>
                  <a:pt x="4018670" y="206028"/>
                </a:lnTo>
                <a:lnTo>
                  <a:pt x="4030085" y="252381"/>
                </a:lnTo>
                <a:lnTo>
                  <a:pt x="4034028" y="301243"/>
                </a:lnTo>
                <a:lnTo>
                  <a:pt x="4034028" y="1506220"/>
                </a:lnTo>
                <a:lnTo>
                  <a:pt x="4030085" y="1555082"/>
                </a:lnTo>
                <a:lnTo>
                  <a:pt x="4018670" y="1601435"/>
                </a:lnTo>
                <a:lnTo>
                  <a:pt x="4000403" y="1644657"/>
                </a:lnTo>
                <a:lnTo>
                  <a:pt x="3975904" y="1684129"/>
                </a:lnTo>
                <a:lnTo>
                  <a:pt x="3945794" y="1719230"/>
                </a:lnTo>
                <a:lnTo>
                  <a:pt x="3910693" y="1749340"/>
                </a:lnTo>
                <a:lnTo>
                  <a:pt x="3871221" y="1773839"/>
                </a:lnTo>
                <a:lnTo>
                  <a:pt x="3827999" y="1792106"/>
                </a:lnTo>
                <a:lnTo>
                  <a:pt x="3781646" y="1803521"/>
                </a:lnTo>
                <a:lnTo>
                  <a:pt x="3732783" y="1807464"/>
                </a:lnTo>
                <a:lnTo>
                  <a:pt x="301256" y="1807464"/>
                </a:lnTo>
                <a:lnTo>
                  <a:pt x="252390" y="1803521"/>
                </a:lnTo>
                <a:lnTo>
                  <a:pt x="206035" y="1792106"/>
                </a:lnTo>
                <a:lnTo>
                  <a:pt x="162810" y="1773839"/>
                </a:lnTo>
                <a:lnTo>
                  <a:pt x="123337" y="1749340"/>
                </a:lnTo>
                <a:lnTo>
                  <a:pt x="88234" y="1719230"/>
                </a:lnTo>
                <a:lnTo>
                  <a:pt x="58124" y="1684129"/>
                </a:lnTo>
                <a:lnTo>
                  <a:pt x="33625" y="1644657"/>
                </a:lnTo>
                <a:lnTo>
                  <a:pt x="15357" y="1601435"/>
                </a:lnTo>
                <a:lnTo>
                  <a:pt x="3942" y="1555082"/>
                </a:lnTo>
                <a:lnTo>
                  <a:pt x="0" y="1506220"/>
                </a:lnTo>
                <a:lnTo>
                  <a:pt x="0" y="301243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03198" y="1031240"/>
            <a:ext cx="3467735" cy="5515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42240" indent="22796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40665" algn="l"/>
              </a:tabLst>
            </a:pPr>
            <a:r>
              <a:rPr sz="1800" b="1" dirty="0">
                <a:latin typeface="Times New Roman"/>
                <a:cs typeface="Times New Roman"/>
              </a:rPr>
              <a:t>Excessive</a:t>
            </a:r>
            <a:r>
              <a:rPr sz="1800" b="1" spc="-7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Wiring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in</a:t>
            </a:r>
            <a:r>
              <a:rPr sz="1800" b="1" spc="-7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Traditional Systems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Point-to-</a:t>
            </a:r>
            <a:r>
              <a:rPr sz="1800" dirty="0">
                <a:latin typeface="Times New Roman"/>
                <a:cs typeface="Times New Roman"/>
              </a:rPr>
              <a:t>point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communication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caused </a:t>
            </a:r>
            <a:r>
              <a:rPr sz="1800" dirty="0">
                <a:latin typeface="Times New Roman"/>
                <a:cs typeface="Times New Roman"/>
              </a:rPr>
              <a:t>bulky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complex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wiring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Resulted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increased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vehicle</a:t>
            </a:r>
            <a:r>
              <a:rPr sz="1800" spc="-10" dirty="0">
                <a:latin typeface="Times New Roman"/>
                <a:cs typeface="Times New Roman"/>
              </a:rPr>
              <a:t> weight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higher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costs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85"/>
              </a:spcBef>
            </a:pPr>
            <a:endParaRPr sz="1800">
              <a:latin typeface="Times New Roman"/>
              <a:cs typeface="Times New Roman"/>
            </a:endParaRPr>
          </a:p>
          <a:p>
            <a:pPr marL="73660" marR="521970" indent="227965">
              <a:lnSpc>
                <a:spcPct val="100000"/>
              </a:lnSpc>
              <a:buAutoNum type="arabicPeriod" startAt="2"/>
              <a:tabLst>
                <a:tab pos="301625" algn="l"/>
              </a:tabLst>
            </a:pPr>
            <a:r>
              <a:rPr sz="1800" b="1" dirty="0">
                <a:latin typeface="Times New Roman"/>
                <a:cs typeface="Times New Roman"/>
              </a:rPr>
              <a:t>Inefficient</a:t>
            </a:r>
            <a:r>
              <a:rPr sz="1800" b="1" spc="-6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Communication Methods</a:t>
            </a:r>
            <a:endParaRPr sz="1800">
              <a:latin typeface="Times New Roman"/>
              <a:cs typeface="Times New Roman"/>
            </a:endParaRPr>
          </a:p>
          <a:p>
            <a:pPr marL="73660" marR="3429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No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standardized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method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reliable multi-</a:t>
            </a:r>
            <a:r>
              <a:rPr sz="1800" b="1" dirty="0">
                <a:latin typeface="Times New Roman"/>
                <a:cs typeface="Times New Roman"/>
              </a:rPr>
              <a:t>device</a:t>
            </a:r>
            <a:r>
              <a:rPr sz="1800" b="1" spc="2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communication </a:t>
            </a:r>
            <a:r>
              <a:rPr sz="1800" dirty="0">
                <a:latin typeface="Times New Roman"/>
                <a:cs typeface="Times New Roman"/>
              </a:rPr>
              <a:t>Existing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methods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lacked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speed</a:t>
            </a:r>
            <a:r>
              <a:rPr sz="1800" b="1" spc="-25" dirty="0">
                <a:latin typeface="Times New Roman"/>
                <a:cs typeface="Times New Roman"/>
              </a:rPr>
              <a:t> and </a:t>
            </a:r>
            <a:r>
              <a:rPr sz="1800" b="1" spc="-10" dirty="0">
                <a:latin typeface="Times New Roman"/>
                <a:cs typeface="Times New Roman"/>
              </a:rPr>
              <a:t>robustness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1800">
              <a:latin typeface="Times New Roman"/>
              <a:cs typeface="Times New Roman"/>
            </a:endParaRPr>
          </a:p>
          <a:p>
            <a:pPr marL="389255" indent="-227965">
              <a:lnSpc>
                <a:spcPct val="100000"/>
              </a:lnSpc>
              <a:buAutoNum type="arabicPeriod" startAt="3"/>
              <a:tabLst>
                <a:tab pos="389255" algn="l"/>
              </a:tabLst>
            </a:pPr>
            <a:r>
              <a:rPr sz="1800" b="1" dirty="0">
                <a:latin typeface="Times New Roman"/>
                <a:cs typeface="Times New Roman"/>
              </a:rPr>
              <a:t>Poor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Fault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Tolerance</a:t>
            </a:r>
            <a:endParaRPr sz="1800">
              <a:latin typeface="Times New Roman"/>
              <a:cs typeface="Times New Roman"/>
            </a:endParaRPr>
          </a:p>
          <a:p>
            <a:pPr marL="161290" marR="258445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Legacy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protocols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offered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limited </a:t>
            </a:r>
            <a:r>
              <a:rPr sz="1800" b="1" dirty="0">
                <a:latin typeface="Times New Roman"/>
                <a:cs typeface="Times New Roman"/>
              </a:rPr>
              <a:t>error</a:t>
            </a:r>
            <a:r>
              <a:rPr sz="1800" b="1" spc="-114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detection</a:t>
            </a:r>
            <a:endParaRPr sz="1800">
              <a:latin typeface="Times New Roman"/>
              <a:cs typeface="Times New Roman"/>
            </a:endParaRPr>
          </a:p>
          <a:p>
            <a:pPr marL="16129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Not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suitable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noisy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or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critical</a:t>
            </a:r>
            <a:endParaRPr sz="1800">
              <a:latin typeface="Times New Roman"/>
              <a:cs typeface="Times New Roman"/>
            </a:endParaRPr>
          </a:p>
          <a:p>
            <a:pPr marL="161290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latin typeface="Times New Roman"/>
                <a:cs typeface="Times New Roman"/>
              </a:rPr>
              <a:t>environments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361309" y="6221082"/>
            <a:ext cx="8890" cy="9525"/>
          </a:xfrm>
          <a:custGeom>
            <a:avLst/>
            <a:gdLst/>
            <a:ahLst/>
            <a:cxnLst/>
            <a:rect l="l" t="t" r="r" b="b"/>
            <a:pathLst>
              <a:path w="8889" h="9525">
                <a:moveTo>
                  <a:pt x="6985" y="0"/>
                </a:moveTo>
                <a:lnTo>
                  <a:pt x="1904" y="0"/>
                </a:lnTo>
                <a:lnTo>
                  <a:pt x="0" y="2019"/>
                </a:lnTo>
                <a:lnTo>
                  <a:pt x="0" y="6985"/>
                </a:lnTo>
                <a:lnTo>
                  <a:pt x="1904" y="9004"/>
                </a:lnTo>
                <a:lnTo>
                  <a:pt x="6985" y="9004"/>
                </a:lnTo>
                <a:lnTo>
                  <a:pt x="8889" y="6985"/>
                </a:lnTo>
                <a:lnTo>
                  <a:pt x="8889" y="4508"/>
                </a:lnTo>
                <a:lnTo>
                  <a:pt x="8889" y="2019"/>
                </a:lnTo>
                <a:lnTo>
                  <a:pt x="698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4141" rIns="0" bIns="0" rtlCol="0">
            <a:spAutoFit/>
          </a:bodyPr>
          <a:lstStyle/>
          <a:p>
            <a:pPr marL="74041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C00000"/>
                </a:solidFill>
                <a:latin typeface="Times New Roman"/>
                <a:cs typeface="Times New Roman"/>
              </a:rPr>
              <a:t>Objective</a:t>
            </a:r>
            <a:r>
              <a:rPr sz="4000" b="1" spc="-1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: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9228" y="1518030"/>
            <a:ext cx="10017760" cy="3866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462280" indent="-342900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Design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transmitter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receiver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circuit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protocol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at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transistor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level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using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CMOS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technology.</a:t>
            </a:r>
            <a:endParaRPr sz="2800">
              <a:latin typeface="Times New Roman"/>
              <a:cs typeface="Times New Roman"/>
            </a:endParaRPr>
          </a:p>
          <a:p>
            <a:pPr marL="355600" marR="272415" indent="-342900">
              <a:lnSpc>
                <a:spcPct val="100000"/>
              </a:lnSpc>
              <a:buFont typeface="Wingdings"/>
              <a:buChar char=""/>
              <a:tabLst>
                <a:tab pos="355600" algn="l"/>
              </a:tabLst>
            </a:pPr>
            <a:r>
              <a:rPr sz="2800" spc="-65" dirty="0">
                <a:latin typeface="Times New Roman"/>
                <a:cs typeface="Times New Roman"/>
              </a:rPr>
              <a:t>To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provide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strong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protection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mechanisms,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including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over-</a:t>
            </a:r>
            <a:r>
              <a:rPr sz="2800" spc="-10" dirty="0">
                <a:latin typeface="Times New Roman"/>
                <a:cs typeface="Times New Roman"/>
              </a:rPr>
              <a:t>voltage, </a:t>
            </a:r>
            <a:r>
              <a:rPr sz="2800" spc="-25" dirty="0">
                <a:latin typeface="Times New Roman"/>
                <a:cs typeface="Times New Roman"/>
              </a:rPr>
              <a:t>under-</a:t>
            </a:r>
            <a:r>
              <a:rPr sz="2800" dirty="0">
                <a:latin typeface="Times New Roman"/>
                <a:cs typeface="Times New Roman"/>
              </a:rPr>
              <a:t>voltage,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short-</a:t>
            </a:r>
            <a:r>
              <a:rPr sz="2800" dirty="0">
                <a:latin typeface="Times New Roman"/>
                <a:cs typeface="Times New Roman"/>
              </a:rPr>
              <a:t>circuit,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thermal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shutdown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protection, </a:t>
            </a:r>
            <a:r>
              <a:rPr sz="2800" dirty="0">
                <a:latin typeface="Times New Roman"/>
                <a:cs typeface="Times New Roman"/>
              </a:rPr>
              <a:t>ensuring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reliability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harsh</a:t>
            </a:r>
            <a:r>
              <a:rPr sz="2800" spc="-10" dirty="0">
                <a:latin typeface="Times New Roman"/>
                <a:cs typeface="Times New Roman"/>
              </a:rPr>
              <a:t> environments.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355600" algn="l"/>
              </a:tabLst>
            </a:pPr>
            <a:r>
              <a:rPr sz="2800" spc="-65" dirty="0">
                <a:latin typeface="Times New Roman"/>
                <a:cs typeface="Times New Roman"/>
              </a:rPr>
              <a:t>To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develop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synthesizable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70" dirty="0">
                <a:latin typeface="Times New Roman"/>
                <a:cs typeface="Times New Roman"/>
              </a:rPr>
              <a:t>RTL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design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Cadence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environment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generates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accurate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CAN_H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CAN_L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differential </a:t>
            </a:r>
            <a:r>
              <a:rPr sz="2800" dirty="0">
                <a:latin typeface="Times New Roman"/>
                <a:cs typeface="Times New Roman"/>
              </a:rPr>
              <a:t>waveforms,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enabling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verification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physical-layer </a:t>
            </a:r>
            <a:r>
              <a:rPr sz="2800" dirty="0">
                <a:latin typeface="Times New Roman"/>
                <a:cs typeface="Times New Roman"/>
              </a:rPr>
              <a:t>behaviour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digital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level.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0781" rIns="0" bIns="0" rtlCol="0">
            <a:spAutoFit/>
          </a:bodyPr>
          <a:lstStyle/>
          <a:p>
            <a:pPr marL="271780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Methodology</a:t>
            </a:r>
            <a:r>
              <a:rPr sz="3600" b="1" spc="-10" dirty="0">
                <a:latin typeface="Times New Roman"/>
                <a:cs typeface="Times New Roman"/>
              </a:rPr>
              <a:t>: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37203" y="446531"/>
            <a:ext cx="7901940" cy="56220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568960" cy="3307079"/>
            <a:chOff x="0" y="0"/>
            <a:chExt cx="568960" cy="330707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148" y="376427"/>
              <a:ext cx="527304" cy="293065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207645" cy="2021205"/>
            </a:xfrm>
            <a:custGeom>
              <a:avLst/>
              <a:gdLst/>
              <a:ahLst/>
              <a:cxnLst/>
              <a:rect l="l" t="t" r="r" b="b"/>
              <a:pathLst>
                <a:path w="207645" h="2021205">
                  <a:moveTo>
                    <a:pt x="207264" y="0"/>
                  </a:moveTo>
                  <a:lnTo>
                    <a:pt x="0" y="0"/>
                  </a:lnTo>
                  <a:lnTo>
                    <a:pt x="0" y="2020824"/>
                  </a:lnTo>
                  <a:lnTo>
                    <a:pt x="207264" y="2020824"/>
                  </a:lnTo>
                  <a:lnTo>
                    <a:pt x="207264" y="0"/>
                  </a:lnTo>
                  <a:close/>
                </a:path>
              </a:pathLst>
            </a:custGeom>
            <a:solidFill>
              <a:srgbClr val="EB6C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8680" rIns="0" bIns="0" rtlCol="0">
            <a:spAutoFit/>
          </a:bodyPr>
          <a:lstStyle/>
          <a:p>
            <a:pPr marL="897890">
              <a:lnSpc>
                <a:spcPct val="100000"/>
              </a:lnSpc>
              <a:spcBef>
                <a:spcPts val="100"/>
              </a:spcBef>
            </a:pPr>
            <a:r>
              <a:rPr sz="3600" b="1" spc="-35" dirty="0">
                <a:solidFill>
                  <a:srgbClr val="743405"/>
                </a:solidFill>
                <a:latin typeface="Times New Roman"/>
                <a:cs typeface="Times New Roman"/>
              </a:rPr>
              <a:t>Tools</a:t>
            </a:r>
            <a:r>
              <a:rPr sz="3600" b="1" spc="-185" dirty="0">
                <a:solidFill>
                  <a:srgbClr val="743405"/>
                </a:solidFill>
                <a:latin typeface="Times New Roman"/>
                <a:cs typeface="Times New Roman"/>
              </a:rPr>
              <a:t> </a:t>
            </a:r>
            <a:r>
              <a:rPr sz="3600" b="1" spc="-10" dirty="0">
                <a:solidFill>
                  <a:srgbClr val="743405"/>
                </a:solidFill>
                <a:latin typeface="Times New Roman"/>
                <a:cs typeface="Times New Roman"/>
              </a:rPr>
              <a:t>Utilized: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6810" y="1192784"/>
            <a:ext cx="9551035" cy="4293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Times New Roman"/>
                <a:cs typeface="Times New Roman"/>
              </a:rPr>
              <a:t>Cadence</a:t>
            </a:r>
            <a:r>
              <a:rPr sz="2800" b="1" spc="-90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Tool:</a:t>
            </a:r>
            <a:endParaRPr sz="28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800" b="1" dirty="0">
                <a:latin typeface="Times New Roman"/>
                <a:cs typeface="Times New Roman"/>
              </a:rPr>
              <a:t>Cadence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suite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electronic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design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automation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(EDA)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tools </a:t>
            </a:r>
            <a:r>
              <a:rPr sz="2800" dirty="0">
                <a:latin typeface="Times New Roman"/>
                <a:cs typeface="Times New Roman"/>
              </a:rPr>
              <a:t>used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designing,</a:t>
            </a:r>
            <a:r>
              <a:rPr sz="2800" b="1" spc="-8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simulating,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and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verifying</a:t>
            </a:r>
            <a:r>
              <a:rPr sz="2800" b="1" spc="-8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integrated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circuits </a:t>
            </a:r>
            <a:r>
              <a:rPr sz="2800" b="1" dirty="0">
                <a:latin typeface="Times New Roman"/>
                <a:cs typeface="Times New Roman"/>
              </a:rPr>
              <a:t>(ICs)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including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digital,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analog,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mixed-</a:t>
            </a:r>
            <a:r>
              <a:rPr sz="2800" dirty="0">
                <a:latin typeface="Times New Roman"/>
                <a:cs typeface="Times New Roman"/>
              </a:rPr>
              <a:t>signal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systems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dirty="0">
                <a:latin typeface="Times New Roman"/>
                <a:cs typeface="Times New Roman"/>
              </a:rPr>
              <a:t>Key</a:t>
            </a:r>
            <a:r>
              <a:rPr sz="2800" b="1" spc="-8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Features</a:t>
            </a:r>
            <a:r>
              <a:rPr sz="2800" b="1" spc="-80" dirty="0">
                <a:latin typeface="Times New Roman"/>
                <a:cs typeface="Times New Roman"/>
              </a:rPr>
              <a:t> </a:t>
            </a:r>
            <a:r>
              <a:rPr sz="2800" b="1" spc="-50" dirty="0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Schematic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Design</a:t>
            </a:r>
            <a:endParaRPr sz="28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"/>
              <a:tabLst>
                <a:tab pos="469265" algn="l"/>
              </a:tabLst>
            </a:pPr>
            <a:r>
              <a:rPr sz="2800" spc="-10" dirty="0">
                <a:latin typeface="Times New Roman"/>
                <a:cs typeface="Times New Roman"/>
              </a:rPr>
              <a:t>Simulation</a:t>
            </a:r>
            <a:endParaRPr sz="28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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Layout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Design</a:t>
            </a:r>
            <a:endParaRPr sz="28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"/>
              <a:tabLst>
                <a:tab pos="469265" algn="l"/>
              </a:tabLst>
            </a:pPr>
            <a:r>
              <a:rPr sz="2800" spc="-10" dirty="0">
                <a:latin typeface="Times New Roman"/>
                <a:cs typeface="Times New Roman"/>
              </a:rPr>
              <a:t>Verification</a:t>
            </a:r>
            <a:endParaRPr sz="28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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Synthesis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&amp;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Times New Roman"/>
                <a:cs typeface="Times New Roman"/>
              </a:rPr>
              <a:t>Timing</a:t>
            </a:r>
            <a:r>
              <a:rPr sz="2800" spc="-1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Analysis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75198" y="391532"/>
            <a:ext cx="4851776" cy="964133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2799460" y="2792095"/>
            <a:ext cx="20955" cy="9525"/>
          </a:xfrm>
          <a:custGeom>
            <a:avLst/>
            <a:gdLst/>
            <a:ahLst/>
            <a:cxnLst/>
            <a:rect l="l" t="t" r="r" b="b"/>
            <a:pathLst>
              <a:path w="20955" h="9525">
                <a:moveTo>
                  <a:pt x="18922" y="0"/>
                </a:moveTo>
                <a:lnTo>
                  <a:pt x="2031" y="0"/>
                </a:lnTo>
                <a:lnTo>
                  <a:pt x="0" y="2031"/>
                </a:lnTo>
                <a:lnTo>
                  <a:pt x="0" y="6984"/>
                </a:lnTo>
                <a:lnTo>
                  <a:pt x="2031" y="9016"/>
                </a:lnTo>
                <a:lnTo>
                  <a:pt x="4571" y="9016"/>
                </a:lnTo>
                <a:lnTo>
                  <a:pt x="18922" y="9016"/>
                </a:lnTo>
                <a:lnTo>
                  <a:pt x="20827" y="6984"/>
                </a:lnTo>
                <a:lnTo>
                  <a:pt x="20827" y="2031"/>
                </a:lnTo>
                <a:lnTo>
                  <a:pt x="1892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744724" y="2064511"/>
            <a:ext cx="74295" cy="99060"/>
          </a:xfrm>
          <a:custGeom>
            <a:avLst/>
            <a:gdLst/>
            <a:ahLst/>
            <a:cxnLst/>
            <a:rect l="l" t="t" r="r" b="b"/>
            <a:pathLst>
              <a:path w="74294" h="99060">
                <a:moveTo>
                  <a:pt x="16129" y="4318"/>
                </a:moveTo>
                <a:lnTo>
                  <a:pt x="14859" y="1778"/>
                </a:lnTo>
                <a:lnTo>
                  <a:pt x="10287" y="0"/>
                </a:lnTo>
                <a:lnTo>
                  <a:pt x="7620" y="1270"/>
                </a:lnTo>
                <a:lnTo>
                  <a:pt x="6858" y="3556"/>
                </a:lnTo>
                <a:lnTo>
                  <a:pt x="3175" y="13335"/>
                </a:lnTo>
                <a:lnTo>
                  <a:pt x="3048" y="13716"/>
                </a:lnTo>
                <a:lnTo>
                  <a:pt x="127" y="24892"/>
                </a:lnTo>
                <a:lnTo>
                  <a:pt x="0" y="35687"/>
                </a:lnTo>
                <a:lnTo>
                  <a:pt x="254" y="36957"/>
                </a:lnTo>
                <a:lnTo>
                  <a:pt x="9271" y="53975"/>
                </a:lnTo>
                <a:lnTo>
                  <a:pt x="12065" y="53975"/>
                </a:lnTo>
                <a:lnTo>
                  <a:pt x="13843" y="52197"/>
                </a:lnTo>
                <a:lnTo>
                  <a:pt x="15621" y="50546"/>
                </a:lnTo>
                <a:lnTo>
                  <a:pt x="15621" y="47625"/>
                </a:lnTo>
                <a:lnTo>
                  <a:pt x="13081" y="45085"/>
                </a:lnTo>
                <a:lnTo>
                  <a:pt x="12560" y="44577"/>
                </a:lnTo>
                <a:lnTo>
                  <a:pt x="12827" y="45085"/>
                </a:lnTo>
                <a:lnTo>
                  <a:pt x="12065" y="44069"/>
                </a:lnTo>
                <a:lnTo>
                  <a:pt x="12560" y="44577"/>
                </a:lnTo>
                <a:lnTo>
                  <a:pt x="12268" y="44069"/>
                </a:lnTo>
                <a:lnTo>
                  <a:pt x="11150" y="42037"/>
                </a:lnTo>
                <a:lnTo>
                  <a:pt x="10871" y="41630"/>
                </a:lnTo>
                <a:lnTo>
                  <a:pt x="10668" y="41148"/>
                </a:lnTo>
                <a:lnTo>
                  <a:pt x="9575" y="36957"/>
                </a:lnTo>
                <a:lnTo>
                  <a:pt x="9207" y="35687"/>
                </a:lnTo>
                <a:lnTo>
                  <a:pt x="9017" y="34988"/>
                </a:lnTo>
                <a:lnTo>
                  <a:pt x="9017" y="34544"/>
                </a:lnTo>
                <a:lnTo>
                  <a:pt x="9017" y="27178"/>
                </a:lnTo>
                <a:lnTo>
                  <a:pt x="9017" y="26695"/>
                </a:lnTo>
                <a:lnTo>
                  <a:pt x="9182" y="26035"/>
                </a:lnTo>
                <a:lnTo>
                  <a:pt x="11709" y="16383"/>
                </a:lnTo>
                <a:lnTo>
                  <a:pt x="11760" y="16129"/>
                </a:lnTo>
                <a:lnTo>
                  <a:pt x="16129" y="4318"/>
                </a:lnTo>
                <a:close/>
              </a:path>
              <a:path w="74294" h="99060">
                <a:moveTo>
                  <a:pt x="73914" y="96266"/>
                </a:moveTo>
                <a:lnTo>
                  <a:pt x="73761" y="94742"/>
                </a:lnTo>
                <a:lnTo>
                  <a:pt x="73660" y="93726"/>
                </a:lnTo>
                <a:lnTo>
                  <a:pt x="72732" y="86245"/>
                </a:lnTo>
                <a:lnTo>
                  <a:pt x="72631" y="85483"/>
                </a:lnTo>
                <a:lnTo>
                  <a:pt x="72517" y="84074"/>
                </a:lnTo>
                <a:lnTo>
                  <a:pt x="70358" y="72898"/>
                </a:lnTo>
                <a:lnTo>
                  <a:pt x="67818" y="61341"/>
                </a:lnTo>
                <a:lnTo>
                  <a:pt x="67818" y="61087"/>
                </a:lnTo>
                <a:lnTo>
                  <a:pt x="64897" y="50292"/>
                </a:lnTo>
                <a:lnTo>
                  <a:pt x="62141" y="40728"/>
                </a:lnTo>
                <a:lnTo>
                  <a:pt x="61163" y="35941"/>
                </a:lnTo>
                <a:lnTo>
                  <a:pt x="61010" y="35191"/>
                </a:lnTo>
                <a:lnTo>
                  <a:pt x="60909" y="34671"/>
                </a:lnTo>
                <a:lnTo>
                  <a:pt x="60706" y="33655"/>
                </a:lnTo>
                <a:lnTo>
                  <a:pt x="60591" y="33096"/>
                </a:lnTo>
                <a:lnTo>
                  <a:pt x="60540" y="32893"/>
                </a:lnTo>
                <a:lnTo>
                  <a:pt x="60426" y="32486"/>
                </a:lnTo>
                <a:lnTo>
                  <a:pt x="60325" y="32131"/>
                </a:lnTo>
                <a:lnTo>
                  <a:pt x="60198" y="31623"/>
                </a:lnTo>
                <a:lnTo>
                  <a:pt x="58039" y="27686"/>
                </a:lnTo>
                <a:lnTo>
                  <a:pt x="56515" y="26162"/>
                </a:lnTo>
                <a:lnTo>
                  <a:pt x="54356" y="24638"/>
                </a:lnTo>
                <a:lnTo>
                  <a:pt x="51943" y="23876"/>
                </a:lnTo>
                <a:lnTo>
                  <a:pt x="50380" y="23876"/>
                </a:lnTo>
                <a:lnTo>
                  <a:pt x="50380" y="32435"/>
                </a:lnTo>
                <a:lnTo>
                  <a:pt x="50228" y="32131"/>
                </a:lnTo>
                <a:lnTo>
                  <a:pt x="50380" y="32435"/>
                </a:lnTo>
                <a:lnTo>
                  <a:pt x="50380" y="23876"/>
                </a:lnTo>
                <a:lnTo>
                  <a:pt x="47625" y="23876"/>
                </a:lnTo>
                <a:lnTo>
                  <a:pt x="45593" y="25908"/>
                </a:lnTo>
                <a:lnTo>
                  <a:pt x="45593" y="30861"/>
                </a:lnTo>
                <a:lnTo>
                  <a:pt x="47625" y="32893"/>
                </a:lnTo>
                <a:lnTo>
                  <a:pt x="50457" y="32893"/>
                </a:lnTo>
                <a:lnTo>
                  <a:pt x="50749" y="33096"/>
                </a:lnTo>
                <a:lnTo>
                  <a:pt x="50419" y="32486"/>
                </a:lnTo>
                <a:lnTo>
                  <a:pt x="50647" y="32893"/>
                </a:lnTo>
                <a:lnTo>
                  <a:pt x="50749" y="33096"/>
                </a:lnTo>
                <a:lnTo>
                  <a:pt x="51904" y="35191"/>
                </a:lnTo>
                <a:lnTo>
                  <a:pt x="51816" y="34671"/>
                </a:lnTo>
                <a:lnTo>
                  <a:pt x="52324" y="35941"/>
                </a:lnTo>
                <a:lnTo>
                  <a:pt x="51904" y="35191"/>
                </a:lnTo>
                <a:lnTo>
                  <a:pt x="53213" y="42164"/>
                </a:lnTo>
                <a:lnTo>
                  <a:pt x="53340" y="42545"/>
                </a:lnTo>
                <a:lnTo>
                  <a:pt x="55562" y="50292"/>
                </a:lnTo>
                <a:lnTo>
                  <a:pt x="56121" y="52565"/>
                </a:lnTo>
                <a:lnTo>
                  <a:pt x="59055" y="63373"/>
                </a:lnTo>
                <a:lnTo>
                  <a:pt x="61595" y="74676"/>
                </a:lnTo>
                <a:lnTo>
                  <a:pt x="63576" y="85483"/>
                </a:lnTo>
                <a:lnTo>
                  <a:pt x="63614" y="85725"/>
                </a:lnTo>
                <a:lnTo>
                  <a:pt x="63715" y="86245"/>
                </a:lnTo>
                <a:lnTo>
                  <a:pt x="64643" y="93726"/>
                </a:lnTo>
                <a:lnTo>
                  <a:pt x="64770" y="94742"/>
                </a:lnTo>
                <a:lnTo>
                  <a:pt x="64922" y="96266"/>
                </a:lnTo>
                <a:lnTo>
                  <a:pt x="65024" y="97282"/>
                </a:lnTo>
                <a:lnTo>
                  <a:pt x="67183" y="99060"/>
                </a:lnTo>
                <a:lnTo>
                  <a:pt x="69723" y="98679"/>
                </a:lnTo>
                <a:lnTo>
                  <a:pt x="72136" y="98425"/>
                </a:lnTo>
                <a:lnTo>
                  <a:pt x="73914" y="9626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760345" y="198132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6985" y="0"/>
                </a:moveTo>
                <a:lnTo>
                  <a:pt x="2031" y="0"/>
                </a:lnTo>
                <a:lnTo>
                  <a:pt x="0" y="2032"/>
                </a:lnTo>
                <a:lnTo>
                  <a:pt x="0" y="6985"/>
                </a:lnTo>
                <a:lnTo>
                  <a:pt x="2031" y="9017"/>
                </a:lnTo>
                <a:lnTo>
                  <a:pt x="6985" y="9017"/>
                </a:lnTo>
                <a:lnTo>
                  <a:pt x="9017" y="6985"/>
                </a:lnTo>
                <a:lnTo>
                  <a:pt x="9017" y="4572"/>
                </a:lnTo>
                <a:lnTo>
                  <a:pt x="9017" y="2032"/>
                </a:lnTo>
                <a:lnTo>
                  <a:pt x="698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177029" y="222542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6985" y="0"/>
                </a:moveTo>
                <a:lnTo>
                  <a:pt x="2032" y="0"/>
                </a:lnTo>
                <a:lnTo>
                  <a:pt x="0" y="2031"/>
                </a:lnTo>
                <a:lnTo>
                  <a:pt x="0" y="6984"/>
                </a:lnTo>
                <a:lnTo>
                  <a:pt x="2032" y="9016"/>
                </a:lnTo>
                <a:lnTo>
                  <a:pt x="6985" y="9016"/>
                </a:lnTo>
                <a:lnTo>
                  <a:pt x="9017" y="6984"/>
                </a:lnTo>
                <a:lnTo>
                  <a:pt x="9017" y="4571"/>
                </a:lnTo>
                <a:lnTo>
                  <a:pt x="9017" y="2031"/>
                </a:lnTo>
                <a:lnTo>
                  <a:pt x="698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598914" y="204977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6984" y="0"/>
                </a:moveTo>
                <a:lnTo>
                  <a:pt x="2031" y="0"/>
                </a:lnTo>
                <a:lnTo>
                  <a:pt x="0" y="2032"/>
                </a:lnTo>
                <a:lnTo>
                  <a:pt x="0" y="6985"/>
                </a:lnTo>
                <a:lnTo>
                  <a:pt x="2031" y="9017"/>
                </a:lnTo>
                <a:lnTo>
                  <a:pt x="6984" y="9017"/>
                </a:lnTo>
                <a:lnTo>
                  <a:pt x="9016" y="6985"/>
                </a:lnTo>
                <a:lnTo>
                  <a:pt x="9016" y="4445"/>
                </a:lnTo>
                <a:lnTo>
                  <a:pt x="9016" y="2032"/>
                </a:lnTo>
                <a:lnTo>
                  <a:pt x="69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19427" y="3017139"/>
            <a:ext cx="32384" cy="8890"/>
          </a:xfrm>
          <a:custGeom>
            <a:avLst/>
            <a:gdLst/>
            <a:ahLst/>
            <a:cxnLst/>
            <a:rect l="l" t="t" r="r" b="b"/>
            <a:pathLst>
              <a:path w="32384" h="8889">
                <a:moveTo>
                  <a:pt x="30353" y="0"/>
                </a:moveTo>
                <a:lnTo>
                  <a:pt x="1905" y="0"/>
                </a:lnTo>
                <a:lnTo>
                  <a:pt x="0" y="2032"/>
                </a:lnTo>
                <a:lnTo>
                  <a:pt x="0" y="6985"/>
                </a:lnTo>
                <a:lnTo>
                  <a:pt x="1905" y="8889"/>
                </a:lnTo>
                <a:lnTo>
                  <a:pt x="4444" y="8889"/>
                </a:lnTo>
                <a:lnTo>
                  <a:pt x="30353" y="8889"/>
                </a:lnTo>
                <a:lnTo>
                  <a:pt x="32258" y="6985"/>
                </a:lnTo>
                <a:lnTo>
                  <a:pt x="32258" y="2032"/>
                </a:lnTo>
                <a:lnTo>
                  <a:pt x="3035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39925" y="224523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6985" y="0"/>
                </a:moveTo>
                <a:lnTo>
                  <a:pt x="2031" y="0"/>
                </a:lnTo>
                <a:lnTo>
                  <a:pt x="0" y="2031"/>
                </a:lnTo>
                <a:lnTo>
                  <a:pt x="0" y="6984"/>
                </a:lnTo>
                <a:lnTo>
                  <a:pt x="2031" y="9016"/>
                </a:lnTo>
                <a:lnTo>
                  <a:pt x="6985" y="9016"/>
                </a:lnTo>
                <a:lnTo>
                  <a:pt x="9017" y="6984"/>
                </a:lnTo>
                <a:lnTo>
                  <a:pt x="9017" y="4571"/>
                </a:lnTo>
                <a:lnTo>
                  <a:pt x="9017" y="2031"/>
                </a:lnTo>
                <a:lnTo>
                  <a:pt x="698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037588" y="2156840"/>
            <a:ext cx="59055" cy="49530"/>
          </a:xfrm>
          <a:custGeom>
            <a:avLst/>
            <a:gdLst/>
            <a:ahLst/>
            <a:cxnLst/>
            <a:rect l="l" t="t" r="r" b="b"/>
            <a:pathLst>
              <a:path w="59055" h="49530">
                <a:moveTo>
                  <a:pt x="13843" y="38989"/>
                </a:moveTo>
                <a:lnTo>
                  <a:pt x="12065" y="37211"/>
                </a:lnTo>
                <a:lnTo>
                  <a:pt x="10287" y="35560"/>
                </a:lnTo>
                <a:lnTo>
                  <a:pt x="7493" y="35560"/>
                </a:lnTo>
                <a:lnTo>
                  <a:pt x="5715" y="37211"/>
                </a:lnTo>
                <a:lnTo>
                  <a:pt x="0" y="42926"/>
                </a:lnTo>
                <a:lnTo>
                  <a:pt x="0" y="45847"/>
                </a:lnTo>
                <a:lnTo>
                  <a:pt x="1651" y="47625"/>
                </a:lnTo>
                <a:lnTo>
                  <a:pt x="3429" y="49403"/>
                </a:lnTo>
                <a:lnTo>
                  <a:pt x="6350" y="49403"/>
                </a:lnTo>
                <a:lnTo>
                  <a:pt x="13843" y="41910"/>
                </a:lnTo>
                <a:lnTo>
                  <a:pt x="13843" y="38989"/>
                </a:lnTo>
                <a:close/>
              </a:path>
              <a:path w="59055" h="49530">
                <a:moveTo>
                  <a:pt x="58674" y="3556"/>
                </a:moveTo>
                <a:lnTo>
                  <a:pt x="55118" y="0"/>
                </a:lnTo>
                <a:lnTo>
                  <a:pt x="52324" y="0"/>
                </a:lnTo>
                <a:lnTo>
                  <a:pt x="46228" y="6096"/>
                </a:lnTo>
                <a:lnTo>
                  <a:pt x="42418" y="9525"/>
                </a:lnTo>
                <a:lnTo>
                  <a:pt x="40513" y="11938"/>
                </a:lnTo>
                <a:lnTo>
                  <a:pt x="38862" y="13843"/>
                </a:lnTo>
                <a:lnTo>
                  <a:pt x="39116" y="15748"/>
                </a:lnTo>
                <a:lnTo>
                  <a:pt x="39243" y="16637"/>
                </a:lnTo>
                <a:lnTo>
                  <a:pt x="41148" y="18288"/>
                </a:lnTo>
                <a:lnTo>
                  <a:pt x="43053" y="19812"/>
                </a:lnTo>
                <a:lnTo>
                  <a:pt x="45974" y="19431"/>
                </a:lnTo>
                <a:lnTo>
                  <a:pt x="48488" y="16256"/>
                </a:lnTo>
                <a:lnTo>
                  <a:pt x="48679" y="15963"/>
                </a:lnTo>
                <a:lnTo>
                  <a:pt x="48895" y="15748"/>
                </a:lnTo>
                <a:lnTo>
                  <a:pt x="51142" y="13843"/>
                </a:lnTo>
                <a:lnTo>
                  <a:pt x="52451" y="12700"/>
                </a:lnTo>
                <a:lnTo>
                  <a:pt x="52578" y="12446"/>
                </a:lnTo>
                <a:lnTo>
                  <a:pt x="56896" y="8128"/>
                </a:lnTo>
                <a:lnTo>
                  <a:pt x="58674" y="6477"/>
                </a:lnTo>
                <a:lnTo>
                  <a:pt x="58674" y="35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60488" y="224523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004" y="2032"/>
                </a:moveTo>
                <a:lnTo>
                  <a:pt x="6985" y="0"/>
                </a:lnTo>
                <a:lnTo>
                  <a:pt x="2019" y="0"/>
                </a:lnTo>
                <a:lnTo>
                  <a:pt x="0" y="2032"/>
                </a:lnTo>
                <a:lnTo>
                  <a:pt x="0" y="6985"/>
                </a:lnTo>
                <a:lnTo>
                  <a:pt x="2019" y="9017"/>
                </a:lnTo>
                <a:lnTo>
                  <a:pt x="6985" y="9017"/>
                </a:lnTo>
                <a:lnTo>
                  <a:pt x="9004" y="6985"/>
                </a:lnTo>
                <a:lnTo>
                  <a:pt x="9004" y="4572"/>
                </a:lnTo>
                <a:lnTo>
                  <a:pt x="9004" y="20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128890" y="221576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6984" y="0"/>
                </a:moveTo>
                <a:lnTo>
                  <a:pt x="2006" y="0"/>
                </a:lnTo>
                <a:lnTo>
                  <a:pt x="0" y="2031"/>
                </a:lnTo>
                <a:lnTo>
                  <a:pt x="0" y="6984"/>
                </a:lnTo>
                <a:lnTo>
                  <a:pt x="2006" y="9016"/>
                </a:lnTo>
                <a:lnTo>
                  <a:pt x="6984" y="9016"/>
                </a:lnTo>
                <a:lnTo>
                  <a:pt x="8991" y="6984"/>
                </a:lnTo>
                <a:lnTo>
                  <a:pt x="8991" y="4444"/>
                </a:lnTo>
                <a:lnTo>
                  <a:pt x="8991" y="2031"/>
                </a:lnTo>
                <a:lnTo>
                  <a:pt x="69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903726" y="2035936"/>
            <a:ext cx="19685" cy="13970"/>
          </a:xfrm>
          <a:custGeom>
            <a:avLst/>
            <a:gdLst/>
            <a:ahLst/>
            <a:cxnLst/>
            <a:rect l="l" t="t" r="r" b="b"/>
            <a:pathLst>
              <a:path w="19685" h="13969">
                <a:moveTo>
                  <a:pt x="5241" y="4572"/>
                </a:moveTo>
                <a:lnTo>
                  <a:pt x="2032" y="4572"/>
                </a:lnTo>
                <a:lnTo>
                  <a:pt x="0" y="6603"/>
                </a:lnTo>
                <a:lnTo>
                  <a:pt x="0" y="11557"/>
                </a:lnTo>
                <a:lnTo>
                  <a:pt x="2032" y="13588"/>
                </a:lnTo>
                <a:lnTo>
                  <a:pt x="6223" y="13588"/>
                </a:lnTo>
                <a:lnTo>
                  <a:pt x="8000" y="13208"/>
                </a:lnTo>
                <a:lnTo>
                  <a:pt x="12191" y="11557"/>
                </a:lnTo>
                <a:lnTo>
                  <a:pt x="16510" y="9016"/>
                </a:lnTo>
                <a:lnTo>
                  <a:pt x="18541" y="7747"/>
                </a:lnTo>
                <a:lnTo>
                  <a:pt x="19303" y="4952"/>
                </a:lnTo>
                <a:lnTo>
                  <a:pt x="4237" y="4952"/>
                </a:lnTo>
                <a:lnTo>
                  <a:pt x="5241" y="4572"/>
                </a:lnTo>
                <a:close/>
              </a:path>
              <a:path w="19685" h="13969">
                <a:moveTo>
                  <a:pt x="18407" y="3428"/>
                </a:moveTo>
                <a:lnTo>
                  <a:pt x="8254" y="3428"/>
                </a:lnTo>
                <a:lnTo>
                  <a:pt x="4237" y="4952"/>
                </a:lnTo>
                <a:lnTo>
                  <a:pt x="3746" y="4952"/>
                </a:lnTo>
                <a:lnTo>
                  <a:pt x="6223" y="4572"/>
                </a:lnTo>
                <a:lnTo>
                  <a:pt x="19079" y="4572"/>
                </a:lnTo>
                <a:lnTo>
                  <a:pt x="18407" y="3428"/>
                </a:lnTo>
                <a:close/>
              </a:path>
              <a:path w="19685" h="13969">
                <a:moveTo>
                  <a:pt x="19079" y="4572"/>
                </a:moveTo>
                <a:lnTo>
                  <a:pt x="6223" y="4572"/>
                </a:lnTo>
                <a:lnTo>
                  <a:pt x="3746" y="4952"/>
                </a:lnTo>
                <a:lnTo>
                  <a:pt x="19303" y="4952"/>
                </a:lnTo>
                <a:lnTo>
                  <a:pt x="19079" y="4572"/>
                </a:lnTo>
                <a:close/>
              </a:path>
              <a:path w="19685" h="13969">
                <a:moveTo>
                  <a:pt x="14097" y="0"/>
                </a:moveTo>
                <a:lnTo>
                  <a:pt x="11937" y="1270"/>
                </a:lnTo>
                <a:lnTo>
                  <a:pt x="7620" y="3683"/>
                </a:lnTo>
                <a:lnTo>
                  <a:pt x="8254" y="3428"/>
                </a:lnTo>
                <a:lnTo>
                  <a:pt x="18407" y="3428"/>
                </a:lnTo>
                <a:lnTo>
                  <a:pt x="18034" y="2793"/>
                </a:lnTo>
                <a:lnTo>
                  <a:pt x="16763" y="762"/>
                </a:lnTo>
                <a:lnTo>
                  <a:pt x="140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1088" y="3243072"/>
            <a:ext cx="2322576" cy="15803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4011" y="817625"/>
            <a:ext cx="6799634" cy="395073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28573" y="6591706"/>
            <a:ext cx="7289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70" dirty="0">
                <a:latin typeface="Tahoma"/>
                <a:cs typeface="Tahoma"/>
              </a:rPr>
              <a:t>12</a:t>
            </a:r>
            <a:r>
              <a:rPr sz="1000" spc="-2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/</a:t>
            </a:r>
            <a:r>
              <a:rPr sz="1000" spc="-204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4</a:t>
            </a:r>
            <a:r>
              <a:rPr sz="1000" spc="-2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/</a:t>
            </a:r>
            <a:r>
              <a:rPr sz="1000" spc="-204" dirty="0">
                <a:latin typeface="Tahoma"/>
                <a:cs typeface="Tahoma"/>
              </a:rPr>
              <a:t> </a:t>
            </a:r>
            <a:r>
              <a:rPr sz="1000" spc="75" dirty="0">
                <a:latin typeface="Tahoma"/>
                <a:cs typeface="Tahoma"/>
              </a:rPr>
              <a:t>2025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18823" y="6431076"/>
            <a:ext cx="1962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5" dirty="0">
                <a:latin typeface="Tahoma"/>
                <a:cs typeface="Tahoma"/>
              </a:rPr>
              <a:t>12 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8573" y="4723231"/>
            <a:ext cx="7115175" cy="140462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94945" indent="-182245">
              <a:lnSpc>
                <a:spcPct val="100000"/>
              </a:lnSpc>
              <a:spcBef>
                <a:spcPts val="1190"/>
              </a:spcBef>
              <a:buSzPct val="120000"/>
              <a:buChar char="•"/>
              <a:tabLst>
                <a:tab pos="194945" algn="l"/>
              </a:tabLst>
            </a:pPr>
            <a:r>
              <a:rPr sz="2000" dirty="0">
                <a:latin typeface="Times New Roman"/>
                <a:cs typeface="Times New Roman"/>
              </a:rPr>
              <a:t>TXD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Tp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enter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chip;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outputs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CANH/CANL.</a:t>
            </a:r>
            <a:endParaRPr sz="20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spcBef>
                <a:spcPts val="1090"/>
              </a:spcBef>
              <a:buChar char="•"/>
              <a:tabLst>
                <a:tab pos="165100" algn="l"/>
              </a:tabLst>
            </a:pPr>
            <a:r>
              <a:rPr sz="2000" dirty="0">
                <a:latin typeface="Times New Roman"/>
                <a:cs typeface="Times New Roman"/>
              </a:rPr>
              <a:t>Signal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passes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through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Input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→ Middle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→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SRC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→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Output.</a:t>
            </a:r>
            <a:endParaRPr sz="2000">
              <a:latin typeface="Times New Roman"/>
              <a:cs typeface="Times New Roman"/>
            </a:endParaRPr>
          </a:p>
          <a:p>
            <a:pPr marL="164465" indent="-151765">
              <a:lnSpc>
                <a:spcPct val="100000"/>
              </a:lnSpc>
              <a:spcBef>
                <a:spcPts val="994"/>
              </a:spcBef>
              <a:buChar char="•"/>
              <a:tabLst>
                <a:tab pos="164465" algn="l"/>
              </a:tabLst>
            </a:pPr>
            <a:r>
              <a:rPr sz="2000" dirty="0">
                <a:latin typeface="Times New Roman"/>
                <a:cs typeface="Times New Roman"/>
              </a:rPr>
              <a:t>Differential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signaling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provides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noise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immunity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bus.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1061" y="20523"/>
            <a:ext cx="8917939" cy="741023"/>
          </a:xfrm>
          <a:prstGeom prst="rect">
            <a:avLst/>
          </a:prstGeom>
        </p:spPr>
        <p:txBody>
          <a:bodyPr vert="horz" wrap="square" lIns="0" tIns="246176" rIns="0" bIns="0" rtlCol="0">
            <a:spAutoFit/>
          </a:bodyPr>
          <a:lstStyle/>
          <a:p>
            <a:pPr marL="187325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Times New Roman"/>
                <a:cs typeface="Times New Roman"/>
              </a:rPr>
              <a:t>Block</a:t>
            </a:r>
            <a:r>
              <a:rPr sz="3200" b="1" spc="-2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Diagram</a:t>
            </a:r>
            <a:r>
              <a:rPr sz="3200" b="1" spc="-5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of</a:t>
            </a:r>
            <a:r>
              <a:rPr sz="3200" b="1" spc="-90" dirty="0">
                <a:latin typeface="Times New Roman"/>
                <a:cs typeface="Times New Roman"/>
              </a:rPr>
              <a:t> </a:t>
            </a:r>
            <a:r>
              <a:rPr sz="3200" b="1" spc="-20">
                <a:latin typeface="Times New Roman"/>
                <a:cs typeface="Times New Roman"/>
              </a:rPr>
              <a:t>Tran</a:t>
            </a:r>
            <a:r>
              <a:rPr lang="en-US" sz="3200" b="1" spc="-20">
                <a:latin typeface="Times New Roman"/>
                <a:cs typeface="Times New Roman"/>
              </a:rPr>
              <a:t>sreceiver</a:t>
            </a:r>
            <a:r>
              <a:rPr sz="3200" b="1" spc="-9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circuit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39528" y="975360"/>
            <a:ext cx="1226820" cy="322961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30"/>
              </a:spcBef>
            </a:pPr>
            <a:endParaRPr sz="1800">
              <a:latin typeface="Times New Roman"/>
              <a:cs typeface="Times New Roman"/>
            </a:endParaRPr>
          </a:p>
          <a:p>
            <a:pPr marL="253365" marR="113664">
              <a:lnSpc>
                <a:spcPct val="100000"/>
              </a:lnSpc>
            </a:pPr>
            <a:r>
              <a:rPr sz="1800" b="1" spc="-10" dirty="0">
                <a:latin typeface="Times New Roman"/>
                <a:cs typeface="Times New Roman"/>
              </a:rPr>
              <a:t>Receiver Stage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114294" y="1152144"/>
            <a:ext cx="6826250" cy="2766060"/>
            <a:chOff x="3114294" y="1152144"/>
            <a:chExt cx="6826250" cy="2766060"/>
          </a:xfrm>
        </p:grpSpPr>
        <p:sp>
          <p:nvSpPr>
            <p:cNvPr id="9" name="object 9"/>
            <p:cNvSpPr/>
            <p:nvPr/>
          </p:nvSpPr>
          <p:spPr>
            <a:xfrm>
              <a:off x="9638537" y="2420874"/>
              <a:ext cx="301625" cy="1487805"/>
            </a:xfrm>
            <a:custGeom>
              <a:avLst/>
              <a:gdLst/>
              <a:ahLst/>
              <a:cxnLst/>
              <a:rect l="l" t="t" r="r" b="b"/>
              <a:pathLst>
                <a:path w="301625" h="1487804">
                  <a:moveTo>
                    <a:pt x="0" y="0"/>
                  </a:moveTo>
                  <a:lnTo>
                    <a:pt x="301625" y="0"/>
                  </a:lnTo>
                </a:path>
                <a:path w="301625" h="1487804">
                  <a:moveTo>
                    <a:pt x="0" y="1133855"/>
                  </a:moveTo>
                  <a:lnTo>
                    <a:pt x="301625" y="1133855"/>
                  </a:lnTo>
                </a:path>
                <a:path w="301625" h="1487804">
                  <a:moveTo>
                    <a:pt x="301625" y="1487424"/>
                  </a:moveTo>
                  <a:lnTo>
                    <a:pt x="0" y="1487424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217920" y="1158240"/>
              <a:ext cx="1127760" cy="660400"/>
            </a:xfrm>
            <a:custGeom>
              <a:avLst/>
              <a:gdLst/>
              <a:ahLst/>
              <a:cxnLst/>
              <a:rect l="l" t="t" r="r" b="b"/>
              <a:pathLst>
                <a:path w="1127759" h="660400">
                  <a:moveTo>
                    <a:pt x="1127759" y="0"/>
                  </a:moveTo>
                  <a:lnTo>
                    <a:pt x="0" y="0"/>
                  </a:lnTo>
                  <a:lnTo>
                    <a:pt x="0" y="659891"/>
                  </a:lnTo>
                  <a:lnTo>
                    <a:pt x="1127759" y="659891"/>
                  </a:lnTo>
                  <a:lnTo>
                    <a:pt x="11277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217920" y="1158240"/>
              <a:ext cx="1127760" cy="660400"/>
            </a:xfrm>
            <a:custGeom>
              <a:avLst/>
              <a:gdLst/>
              <a:ahLst/>
              <a:cxnLst/>
              <a:rect l="l" t="t" r="r" b="b"/>
              <a:pathLst>
                <a:path w="1127759" h="660400">
                  <a:moveTo>
                    <a:pt x="0" y="659891"/>
                  </a:moveTo>
                  <a:lnTo>
                    <a:pt x="1127759" y="659891"/>
                  </a:lnTo>
                  <a:lnTo>
                    <a:pt x="1127759" y="0"/>
                  </a:lnTo>
                  <a:lnTo>
                    <a:pt x="0" y="0"/>
                  </a:lnTo>
                  <a:lnTo>
                    <a:pt x="0" y="659891"/>
                  </a:lnTo>
                  <a:close/>
                </a:path>
              </a:pathLst>
            </a:custGeom>
            <a:ln w="1219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97908" y="1743456"/>
              <a:ext cx="1127760" cy="584200"/>
            </a:xfrm>
            <a:custGeom>
              <a:avLst/>
              <a:gdLst/>
              <a:ahLst/>
              <a:cxnLst/>
              <a:rect l="l" t="t" r="r" b="b"/>
              <a:pathLst>
                <a:path w="1127760" h="584200">
                  <a:moveTo>
                    <a:pt x="1127760" y="0"/>
                  </a:moveTo>
                  <a:lnTo>
                    <a:pt x="0" y="0"/>
                  </a:lnTo>
                  <a:lnTo>
                    <a:pt x="0" y="583691"/>
                  </a:lnTo>
                  <a:lnTo>
                    <a:pt x="1127760" y="583691"/>
                  </a:lnTo>
                  <a:lnTo>
                    <a:pt x="11277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97908" y="1743456"/>
              <a:ext cx="1127760" cy="584200"/>
            </a:xfrm>
            <a:custGeom>
              <a:avLst/>
              <a:gdLst/>
              <a:ahLst/>
              <a:cxnLst/>
              <a:rect l="l" t="t" r="r" b="b"/>
              <a:pathLst>
                <a:path w="1127760" h="584200">
                  <a:moveTo>
                    <a:pt x="0" y="583691"/>
                  </a:moveTo>
                  <a:lnTo>
                    <a:pt x="1127760" y="583691"/>
                  </a:lnTo>
                  <a:lnTo>
                    <a:pt x="1127760" y="0"/>
                  </a:lnTo>
                  <a:lnTo>
                    <a:pt x="0" y="0"/>
                  </a:lnTo>
                  <a:lnTo>
                    <a:pt x="0" y="583691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393691" y="1699260"/>
              <a:ext cx="132715" cy="372110"/>
            </a:xfrm>
            <a:custGeom>
              <a:avLst/>
              <a:gdLst/>
              <a:ahLst/>
              <a:cxnLst/>
              <a:rect l="l" t="t" r="r" b="b"/>
              <a:pathLst>
                <a:path w="132714" h="372110">
                  <a:moveTo>
                    <a:pt x="132587" y="0"/>
                  </a:moveTo>
                  <a:lnTo>
                    <a:pt x="0" y="0"/>
                  </a:lnTo>
                  <a:lnTo>
                    <a:pt x="0" y="371856"/>
                  </a:lnTo>
                  <a:lnTo>
                    <a:pt x="132587" y="371856"/>
                  </a:lnTo>
                  <a:lnTo>
                    <a:pt x="1325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93691" y="1699260"/>
              <a:ext cx="132715" cy="372110"/>
            </a:xfrm>
            <a:custGeom>
              <a:avLst/>
              <a:gdLst/>
              <a:ahLst/>
              <a:cxnLst/>
              <a:rect l="l" t="t" r="r" b="b"/>
              <a:pathLst>
                <a:path w="132714" h="372110">
                  <a:moveTo>
                    <a:pt x="0" y="371856"/>
                  </a:moveTo>
                  <a:lnTo>
                    <a:pt x="132587" y="371856"/>
                  </a:lnTo>
                  <a:lnTo>
                    <a:pt x="132587" y="0"/>
                  </a:lnTo>
                  <a:lnTo>
                    <a:pt x="0" y="0"/>
                  </a:lnTo>
                  <a:lnTo>
                    <a:pt x="0" y="371856"/>
                  </a:lnTo>
                  <a:close/>
                </a:path>
              </a:pathLst>
            </a:custGeom>
            <a:ln w="1219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114294" y="1700022"/>
              <a:ext cx="889000" cy="0"/>
            </a:xfrm>
            <a:custGeom>
              <a:avLst/>
              <a:gdLst/>
              <a:ahLst/>
              <a:cxnLst/>
              <a:rect l="l" t="t" r="r" b="b"/>
              <a:pathLst>
                <a:path w="889000">
                  <a:moveTo>
                    <a:pt x="889000" y="0"/>
                  </a:moveTo>
                  <a:lnTo>
                    <a:pt x="0" y="0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9239757" y="3781425"/>
            <a:ext cx="3524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latin typeface="Times New Roman"/>
                <a:cs typeface="Times New Roman"/>
              </a:rPr>
              <a:t>IDC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1162538" y="2486405"/>
            <a:ext cx="340995" cy="0"/>
          </a:xfrm>
          <a:custGeom>
            <a:avLst/>
            <a:gdLst/>
            <a:ahLst/>
            <a:cxnLst/>
            <a:rect l="l" t="t" r="r" b="b"/>
            <a:pathLst>
              <a:path w="340995">
                <a:moveTo>
                  <a:pt x="0" y="0"/>
                </a:moveTo>
                <a:lnTo>
                  <a:pt x="340867" y="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583416" y="2319020"/>
            <a:ext cx="273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ahoma"/>
                <a:cs typeface="Tahoma"/>
              </a:rPr>
              <a:t>Rx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740914" y="1518869"/>
            <a:ext cx="2813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imes New Roman"/>
                <a:cs typeface="Times New Roman"/>
              </a:rPr>
              <a:t>Tp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313170" y="1203198"/>
            <a:ext cx="9086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imes New Roman"/>
                <a:cs typeface="Times New Roman"/>
              </a:rPr>
              <a:t>CAN_H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0" dirty="0">
                <a:latin typeface="Times New Roman"/>
                <a:cs typeface="Times New Roman"/>
              </a:rPr>
              <a:t>&amp;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313170" y="1447037"/>
            <a:ext cx="11715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imes New Roman"/>
                <a:cs typeface="Times New Roman"/>
              </a:rPr>
              <a:t>CAN_L</a:t>
            </a:r>
            <a:r>
              <a:rPr sz="1600" spc="-8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Stage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A6DEE4E-B8AB-E2EE-AD75-7005FDC4B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8360" y="817625"/>
            <a:ext cx="9231239" cy="395073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2380" y="6431076"/>
            <a:ext cx="7289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70" dirty="0">
                <a:latin typeface="Tahoma"/>
                <a:cs typeface="Tahoma"/>
              </a:rPr>
              <a:t>12</a:t>
            </a:r>
            <a:r>
              <a:rPr sz="1000" spc="-2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/</a:t>
            </a:r>
            <a:r>
              <a:rPr sz="1000" spc="-204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4</a:t>
            </a:r>
            <a:r>
              <a:rPr sz="1000" spc="-2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/</a:t>
            </a:r>
            <a:r>
              <a:rPr sz="1000" spc="-204" dirty="0">
                <a:latin typeface="Tahoma"/>
                <a:cs typeface="Tahoma"/>
              </a:rPr>
              <a:t> </a:t>
            </a:r>
            <a:r>
              <a:rPr sz="1000" spc="75" dirty="0">
                <a:latin typeface="Tahoma"/>
                <a:cs typeface="Tahoma"/>
              </a:rPr>
              <a:t>2025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07267" y="6431076"/>
            <a:ext cx="1962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5" dirty="0">
                <a:latin typeface="Tahoma"/>
                <a:cs typeface="Tahoma"/>
              </a:rPr>
              <a:t>13 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6928" rIns="0" bIns="0" rtlCol="0">
            <a:spAutoFit/>
          </a:bodyPr>
          <a:lstStyle/>
          <a:p>
            <a:pPr marL="339725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CMOS-Based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CAN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Transceiver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spc="-30" dirty="0">
                <a:latin typeface="Times New Roman"/>
                <a:cs typeface="Times New Roman"/>
              </a:rPr>
              <a:t>(Transmitter,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Receiver,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Protection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Circuit)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372" y="713231"/>
            <a:ext cx="11573256" cy="562813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3963" y="6431076"/>
            <a:ext cx="7289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70" dirty="0">
                <a:latin typeface="Tahoma"/>
                <a:cs typeface="Tahoma"/>
              </a:rPr>
              <a:t>12</a:t>
            </a:r>
            <a:r>
              <a:rPr sz="1000" spc="-2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/</a:t>
            </a:r>
            <a:r>
              <a:rPr sz="1000" spc="-204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4</a:t>
            </a:r>
            <a:r>
              <a:rPr sz="1000" spc="-2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/</a:t>
            </a:r>
            <a:r>
              <a:rPr sz="1000" spc="-204" dirty="0">
                <a:latin typeface="Tahoma"/>
                <a:cs typeface="Tahoma"/>
              </a:rPr>
              <a:t> </a:t>
            </a:r>
            <a:r>
              <a:rPr sz="1000" spc="75" dirty="0">
                <a:latin typeface="Tahoma"/>
                <a:cs typeface="Tahoma"/>
              </a:rPr>
              <a:t>2025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18823" y="6431076"/>
            <a:ext cx="1962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5" dirty="0">
                <a:latin typeface="Tahoma"/>
                <a:cs typeface="Tahoma"/>
              </a:rPr>
              <a:t>14 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9333" y="345775"/>
            <a:ext cx="5636893" cy="53474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75056" y="1555615"/>
            <a:ext cx="5393055" cy="165290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17475" indent="-117475">
              <a:lnSpc>
                <a:spcPct val="100000"/>
              </a:lnSpc>
              <a:spcBef>
                <a:spcPts val="320"/>
              </a:spcBef>
              <a:buSzPct val="112500"/>
              <a:buChar char="•"/>
              <a:tabLst>
                <a:tab pos="117475" algn="l"/>
              </a:tabLst>
            </a:pPr>
            <a:r>
              <a:rPr sz="2000" dirty="0">
                <a:latin typeface="Times New Roman"/>
                <a:cs typeface="Times New Roman"/>
              </a:rPr>
              <a:t>Accepts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transmit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(TXD)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10" dirty="0">
                <a:latin typeface="Times New Roman"/>
                <a:cs typeface="Times New Roman"/>
              </a:rPr>
              <a:t>shutdown</a:t>
            </a:r>
            <a:endParaRPr sz="2000">
              <a:latin typeface="Times New Roman"/>
              <a:cs typeface="Times New Roman"/>
            </a:endParaRPr>
          </a:p>
          <a:p>
            <a:pPr marL="195580">
              <a:lnSpc>
                <a:spcPct val="100000"/>
              </a:lnSpc>
              <a:spcBef>
                <a:spcPts val="545"/>
              </a:spcBef>
            </a:pPr>
            <a:r>
              <a:rPr sz="2000" dirty="0">
                <a:latin typeface="Times New Roman"/>
                <a:cs typeface="Times New Roman"/>
              </a:rPr>
              <a:t>signal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(Tp)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thermal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protection.</a:t>
            </a:r>
            <a:endParaRPr sz="20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2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chip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gets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(&gt;150°C),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transmitter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locks </a:t>
            </a:r>
            <a:r>
              <a:rPr sz="2000" dirty="0">
                <a:latin typeface="Times New Roman"/>
                <a:cs typeface="Times New Roman"/>
              </a:rPr>
              <a:t>high,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saving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damage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power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drain.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3966" rIns="0" bIns="0" rtlCol="0">
            <a:spAutoFit/>
          </a:bodyPr>
          <a:lstStyle/>
          <a:p>
            <a:pPr marL="64516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Times New Roman"/>
                <a:cs typeface="Times New Roman"/>
              </a:rPr>
              <a:t>Input</a:t>
            </a:r>
            <a:r>
              <a:rPr sz="3600" b="1" spc="-5" dirty="0">
                <a:latin typeface="Times New Roman"/>
                <a:cs typeface="Times New Roman"/>
              </a:rPr>
              <a:t> </a:t>
            </a:r>
            <a:r>
              <a:rPr sz="3600" b="1" spc="-10" dirty="0">
                <a:latin typeface="Times New Roman"/>
                <a:cs typeface="Times New Roman"/>
              </a:rPr>
              <a:t>stage</a:t>
            </a:r>
            <a:endParaRPr sz="3600">
              <a:latin typeface="Times New Roman"/>
              <a:cs typeface="Times New Roman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788669" y="3587369"/>
          <a:ext cx="4470400" cy="24491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6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21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087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2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TXD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93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2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Tp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93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2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6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Tp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93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Output=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(Not(Txd+Not</a:t>
                      </a:r>
                      <a:r>
                        <a:rPr sz="18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Tp))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6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39231" y="6042807"/>
            <a:ext cx="4235229" cy="45778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255" y="877824"/>
            <a:ext cx="6239256" cy="513740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4035" rIns="0" bIns="0" rtlCol="0">
            <a:spAutoFit/>
          </a:bodyPr>
          <a:lstStyle/>
          <a:p>
            <a:pPr marL="376555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Times New Roman"/>
                <a:cs typeface="Times New Roman"/>
              </a:rPr>
              <a:t>Input</a:t>
            </a:r>
            <a:r>
              <a:rPr sz="3200" b="1" spc="-2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stage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0292" y="6201562"/>
            <a:ext cx="44837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Schematic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Cadence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Virtuoso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0330" indent="-97155">
              <a:lnSpc>
                <a:spcPct val="100000"/>
              </a:lnSpc>
              <a:spcBef>
                <a:spcPts val="105"/>
              </a:spcBef>
              <a:buSzPct val="95000"/>
              <a:buFont typeface="Times New Roman"/>
              <a:buChar char="•"/>
              <a:tabLst>
                <a:tab pos="100330" algn="l"/>
              </a:tabLst>
            </a:pPr>
            <a:r>
              <a:rPr spc="-80" dirty="0"/>
              <a:t>To</a:t>
            </a:r>
            <a:r>
              <a:rPr spc="-30" dirty="0"/>
              <a:t> </a:t>
            </a:r>
            <a:r>
              <a:rPr dirty="0"/>
              <a:t>match</a:t>
            </a:r>
            <a:r>
              <a:rPr spc="-45" dirty="0"/>
              <a:t> </a:t>
            </a:r>
            <a:r>
              <a:rPr dirty="0"/>
              <a:t>CAN</a:t>
            </a:r>
            <a:r>
              <a:rPr spc="-25" dirty="0"/>
              <a:t> </a:t>
            </a:r>
            <a:r>
              <a:rPr spc="-10" dirty="0"/>
              <a:t>logic:</a:t>
            </a:r>
          </a:p>
          <a:p>
            <a:pPr marL="12700" marR="507365" indent="-9525">
              <a:lnSpc>
                <a:spcPct val="100000"/>
              </a:lnSpc>
              <a:buSzPct val="95000"/>
              <a:buChar char="•"/>
              <a:tabLst>
                <a:tab pos="100330" algn="l"/>
              </a:tabLst>
            </a:pPr>
            <a:r>
              <a:rPr b="0" dirty="0">
                <a:latin typeface="Times New Roman"/>
                <a:cs typeface="Times New Roman"/>
              </a:rPr>
              <a:t>	TXD</a:t>
            </a:r>
            <a:r>
              <a:rPr b="0" spc="-1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=</a:t>
            </a:r>
            <a:r>
              <a:rPr b="0" spc="-1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0</a:t>
            </a:r>
            <a:r>
              <a:rPr b="0" spc="-1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→</a:t>
            </a:r>
            <a:r>
              <a:rPr b="0" spc="-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Output</a:t>
            </a:r>
            <a:r>
              <a:rPr b="0" spc="-5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HIGH</a:t>
            </a:r>
            <a:r>
              <a:rPr b="0" spc="-1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→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Bus</a:t>
            </a:r>
            <a:r>
              <a:rPr b="0" spc="-5" dirty="0">
                <a:latin typeface="Times New Roman"/>
                <a:cs typeface="Times New Roman"/>
              </a:rPr>
              <a:t> </a:t>
            </a:r>
            <a:r>
              <a:rPr spc="-10" dirty="0"/>
              <a:t>dominant (active)</a:t>
            </a:r>
          </a:p>
          <a:p>
            <a:pPr marL="100330" indent="-97155">
              <a:lnSpc>
                <a:spcPct val="100000"/>
              </a:lnSpc>
              <a:buSzPct val="95000"/>
              <a:buChar char="•"/>
              <a:tabLst>
                <a:tab pos="100330" algn="l"/>
              </a:tabLst>
            </a:pPr>
            <a:r>
              <a:rPr b="0" dirty="0">
                <a:latin typeface="Times New Roman"/>
                <a:cs typeface="Times New Roman"/>
              </a:rPr>
              <a:t>TXD</a:t>
            </a:r>
            <a:r>
              <a:rPr b="0" spc="-1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=</a:t>
            </a:r>
            <a:r>
              <a:rPr b="0" spc="-1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1</a:t>
            </a:r>
            <a:r>
              <a:rPr b="0" spc="-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→</a:t>
            </a:r>
            <a:r>
              <a:rPr b="0" spc="-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Output</a:t>
            </a:r>
            <a:r>
              <a:rPr b="0" spc="-5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LOW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→</a:t>
            </a:r>
            <a:r>
              <a:rPr b="0" spc="-1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Bus</a:t>
            </a:r>
            <a:r>
              <a:rPr b="0" spc="-10" dirty="0">
                <a:latin typeface="Times New Roman"/>
                <a:cs typeface="Times New Roman"/>
              </a:rPr>
              <a:t> </a:t>
            </a:r>
            <a:r>
              <a:rPr dirty="0"/>
              <a:t>recessive</a:t>
            </a:r>
            <a:r>
              <a:rPr spc="-45" dirty="0"/>
              <a:t> </a:t>
            </a:r>
            <a:r>
              <a:rPr spc="-10" dirty="0"/>
              <a:t>(idle)</a:t>
            </a:r>
          </a:p>
          <a:p>
            <a:pPr marL="100330" indent="-97155">
              <a:lnSpc>
                <a:spcPct val="100000"/>
              </a:lnSpc>
              <a:buSzPct val="95000"/>
              <a:buFont typeface="Times New Roman"/>
              <a:buChar char="•"/>
              <a:tabLst>
                <a:tab pos="100330" algn="l"/>
              </a:tabLst>
            </a:pPr>
            <a:r>
              <a:rPr spc="-80" dirty="0"/>
              <a:t>To</a:t>
            </a:r>
            <a:r>
              <a:rPr spc="-20" dirty="0"/>
              <a:t> </a:t>
            </a:r>
            <a:r>
              <a:rPr dirty="0"/>
              <a:t>clean</a:t>
            </a:r>
            <a:r>
              <a:rPr spc="-1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spc="-10" dirty="0"/>
              <a:t>signal:</a:t>
            </a:r>
          </a:p>
          <a:p>
            <a:pPr marL="100330" indent="-97155">
              <a:lnSpc>
                <a:spcPct val="100000"/>
              </a:lnSpc>
              <a:buSzPct val="95000"/>
              <a:buChar char="•"/>
              <a:tabLst>
                <a:tab pos="100330" algn="l"/>
              </a:tabLst>
            </a:pPr>
            <a:r>
              <a:rPr b="0" dirty="0">
                <a:latin typeface="Times New Roman"/>
                <a:cs typeface="Times New Roman"/>
              </a:rPr>
              <a:t>Inverter</a:t>
            </a:r>
            <a:r>
              <a:rPr b="0" spc="-6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sharpens</a:t>
            </a:r>
            <a:r>
              <a:rPr b="0" spc="-8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TXD</a:t>
            </a:r>
            <a:r>
              <a:rPr b="0" spc="-1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edges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and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removes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noise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b="0" dirty="0">
                <a:latin typeface="Times New Roman"/>
                <a:cs typeface="Times New Roman"/>
              </a:rPr>
              <a:t>before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amplification.</a:t>
            </a:r>
          </a:p>
          <a:p>
            <a:pPr marL="100330" indent="-97155">
              <a:lnSpc>
                <a:spcPct val="100000"/>
              </a:lnSpc>
              <a:buSzPct val="95000"/>
              <a:buFont typeface="Times New Roman"/>
              <a:buChar char="•"/>
              <a:tabLst>
                <a:tab pos="100330" algn="l"/>
              </a:tabLst>
            </a:pPr>
            <a:r>
              <a:rPr spc="-80" dirty="0"/>
              <a:t>To</a:t>
            </a:r>
            <a:r>
              <a:rPr spc="-15" dirty="0"/>
              <a:t> </a:t>
            </a:r>
            <a:r>
              <a:rPr dirty="0"/>
              <a:t>support</a:t>
            </a:r>
            <a:r>
              <a:rPr spc="-40" dirty="0"/>
              <a:t> </a:t>
            </a:r>
            <a:r>
              <a:rPr dirty="0"/>
              <a:t>thermal</a:t>
            </a:r>
            <a:r>
              <a:rPr spc="-50" dirty="0"/>
              <a:t> </a:t>
            </a:r>
            <a:r>
              <a:rPr spc="-10" dirty="0"/>
              <a:t>protection:</a:t>
            </a:r>
          </a:p>
          <a:p>
            <a:pPr marL="100330" indent="-97155">
              <a:lnSpc>
                <a:spcPct val="100000"/>
              </a:lnSpc>
              <a:buSzPct val="95000"/>
              <a:buChar char="•"/>
              <a:tabLst>
                <a:tab pos="100330" algn="l"/>
              </a:tabLst>
            </a:pPr>
            <a:r>
              <a:rPr b="0" dirty="0">
                <a:latin typeface="Times New Roman"/>
                <a:cs typeface="Times New Roman"/>
              </a:rPr>
              <a:t>When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chip</a:t>
            </a:r>
            <a:r>
              <a:rPr b="0" spc="-1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overheats</a:t>
            </a:r>
            <a:r>
              <a:rPr b="0" spc="-4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(Tp</a:t>
            </a:r>
            <a:r>
              <a:rPr b="0" spc="-1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= 0),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output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stays</a:t>
            </a:r>
            <a:r>
              <a:rPr b="0" spc="-10" dirty="0">
                <a:latin typeface="Times New Roman"/>
                <a:cs typeface="Times New Roman"/>
              </a:rPr>
              <a:t> </a:t>
            </a:r>
            <a:r>
              <a:rPr b="0" spc="-20" dirty="0">
                <a:latin typeface="Times New Roman"/>
                <a:cs typeface="Times New Roman"/>
              </a:rPr>
              <a:t>HIGH</a:t>
            </a:r>
          </a:p>
          <a:p>
            <a:pPr marL="12700">
              <a:lnSpc>
                <a:spcPct val="100000"/>
              </a:lnSpc>
            </a:pPr>
            <a:r>
              <a:rPr b="0" dirty="0">
                <a:latin typeface="Times New Roman"/>
                <a:cs typeface="Times New Roman"/>
              </a:rPr>
              <a:t>→</a:t>
            </a:r>
            <a:r>
              <a:rPr b="0" spc="-3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Bus</a:t>
            </a:r>
            <a:r>
              <a:rPr b="0" spc="-1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remains</a:t>
            </a:r>
            <a:r>
              <a:rPr b="0" spc="-1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recessive</a:t>
            </a:r>
            <a:r>
              <a:rPr b="0" spc="-5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→</a:t>
            </a:r>
            <a:r>
              <a:rPr b="0" spc="-20" dirty="0">
                <a:latin typeface="Times New Roman"/>
                <a:cs typeface="Times New Roman"/>
              </a:rPr>
              <a:t> </a:t>
            </a:r>
            <a:r>
              <a:rPr dirty="0"/>
              <a:t>safe</a:t>
            </a:r>
            <a:r>
              <a:rPr spc="-35" dirty="0"/>
              <a:t> </a:t>
            </a:r>
            <a:r>
              <a:rPr spc="-10" dirty="0"/>
              <a:t>mode</a:t>
            </a:r>
            <a:r>
              <a:rPr b="0" spc="-10" dirty="0">
                <a:latin typeface="Times New Roman"/>
                <a:cs typeface="Times New Roman"/>
              </a:rPr>
              <a:t>.</a:t>
            </a:r>
          </a:p>
          <a:p>
            <a:pPr marL="100330" indent="-97155">
              <a:lnSpc>
                <a:spcPct val="100000"/>
              </a:lnSpc>
              <a:buSzPct val="95000"/>
              <a:buFont typeface="Times New Roman"/>
              <a:buChar char="•"/>
              <a:tabLst>
                <a:tab pos="100330" algn="l"/>
              </a:tabLst>
            </a:pPr>
            <a:r>
              <a:rPr spc="-80" dirty="0"/>
              <a:t>To</a:t>
            </a:r>
            <a:r>
              <a:rPr spc="-30" dirty="0"/>
              <a:t> </a:t>
            </a:r>
            <a:r>
              <a:rPr dirty="0"/>
              <a:t>keep</a:t>
            </a:r>
            <a:r>
              <a:rPr spc="-40" dirty="0"/>
              <a:t> </a:t>
            </a:r>
            <a:r>
              <a:rPr dirty="0"/>
              <a:t>correct</a:t>
            </a:r>
            <a:r>
              <a:rPr spc="-45" dirty="0"/>
              <a:t> </a:t>
            </a:r>
            <a:r>
              <a:rPr spc="-10" dirty="0"/>
              <a:t>phase:</a:t>
            </a:r>
          </a:p>
          <a:p>
            <a:pPr marL="12700" marR="307340" indent="-9525">
              <a:lnSpc>
                <a:spcPct val="100000"/>
              </a:lnSpc>
              <a:buSzPct val="95000"/>
              <a:buChar char="•"/>
              <a:tabLst>
                <a:tab pos="100330" algn="l"/>
              </a:tabLst>
            </a:pPr>
            <a:r>
              <a:rPr b="0" dirty="0">
                <a:latin typeface="Times New Roman"/>
                <a:cs typeface="Times New Roman"/>
              </a:rPr>
              <a:t>	Makes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sure</a:t>
            </a:r>
            <a:r>
              <a:rPr b="0" spc="-3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later</a:t>
            </a:r>
            <a:r>
              <a:rPr b="0" spc="-1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stages</a:t>
            </a:r>
            <a:r>
              <a:rPr b="0" spc="-3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(Pa/Pb,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CANH/CANL) </a:t>
            </a:r>
            <a:r>
              <a:rPr b="0" dirty="0">
                <a:latin typeface="Times New Roman"/>
                <a:cs typeface="Times New Roman"/>
              </a:rPr>
              <a:t>switch</a:t>
            </a:r>
            <a:r>
              <a:rPr b="0" spc="-3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correctly</a:t>
            </a:r>
            <a:r>
              <a:rPr b="0" spc="-5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with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CAN</a:t>
            </a:r>
            <a:r>
              <a:rPr b="0" spc="-10" dirty="0">
                <a:latin typeface="Times New Roman"/>
                <a:cs typeface="Times New Roman"/>
              </a:rPr>
              <a:t> standard.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1523" y="6448470"/>
            <a:ext cx="17081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60"/>
              </a:lnSpc>
            </a:pPr>
            <a:r>
              <a:rPr sz="1000" spc="45" dirty="0">
                <a:latin typeface="Tahoma"/>
                <a:cs typeface="Tahoma"/>
              </a:rPr>
              <a:t>16 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44011" y="554736"/>
            <a:ext cx="9247988" cy="61523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14350" y="1558032"/>
            <a:ext cx="3427095" cy="296862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58115" indent="-145415">
              <a:lnSpc>
                <a:spcPct val="100000"/>
              </a:lnSpc>
              <a:spcBef>
                <a:spcPts val="600"/>
              </a:spcBef>
              <a:buChar char="•"/>
              <a:tabLst>
                <a:tab pos="158115" algn="l"/>
              </a:tabLst>
            </a:pPr>
            <a:r>
              <a:rPr sz="2100" dirty="0">
                <a:latin typeface="Times New Roman"/>
                <a:cs typeface="Times New Roman"/>
              </a:rPr>
              <a:t>Amplifies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signal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drive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spc="-20" dirty="0">
                <a:latin typeface="Times New Roman"/>
                <a:cs typeface="Times New Roman"/>
              </a:rPr>
              <a:t>using</a:t>
            </a: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2100" dirty="0">
                <a:latin typeface="Times New Roman"/>
                <a:cs typeface="Times New Roman"/>
              </a:rPr>
              <a:t>five</a:t>
            </a:r>
            <a:r>
              <a:rPr sz="2100" spc="-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cascaded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inverters.</a:t>
            </a:r>
            <a:endParaRPr sz="2100">
              <a:latin typeface="Times New Roman"/>
              <a:cs typeface="Times New Roman"/>
            </a:endParaRPr>
          </a:p>
          <a:p>
            <a:pPr marL="12700" marR="5080" indent="159385">
              <a:lnSpc>
                <a:spcPct val="120000"/>
              </a:lnSpc>
              <a:spcBef>
                <a:spcPts val="994"/>
              </a:spcBef>
              <a:buChar char="•"/>
              <a:tabLst>
                <a:tab pos="172085" algn="l"/>
              </a:tabLst>
            </a:pPr>
            <a:r>
              <a:rPr sz="2100" dirty="0">
                <a:latin typeface="Times New Roman"/>
                <a:cs typeface="Times New Roman"/>
              </a:rPr>
              <a:t>Each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inverter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is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3×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larger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-20" dirty="0">
                <a:latin typeface="Times New Roman"/>
                <a:cs typeface="Times New Roman"/>
              </a:rPr>
              <a:t>than </a:t>
            </a:r>
            <a:r>
              <a:rPr sz="2100" dirty="0">
                <a:latin typeface="Times New Roman"/>
                <a:cs typeface="Times New Roman"/>
              </a:rPr>
              <a:t>previous</a:t>
            </a:r>
            <a:r>
              <a:rPr sz="2100" spc="-5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to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drive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-20" dirty="0">
                <a:latin typeface="Times New Roman"/>
                <a:cs typeface="Times New Roman"/>
              </a:rPr>
              <a:t>large </a:t>
            </a:r>
            <a:r>
              <a:rPr sz="2100" spc="-10" dirty="0">
                <a:latin typeface="Times New Roman"/>
                <a:cs typeface="Times New Roman"/>
              </a:rPr>
              <a:t>capacitances.</a:t>
            </a:r>
            <a:endParaRPr sz="2100">
              <a:latin typeface="Times New Roman"/>
              <a:cs typeface="Times New Roman"/>
            </a:endParaRPr>
          </a:p>
          <a:p>
            <a:pPr marL="12700" marR="555625" indent="159385">
              <a:lnSpc>
                <a:spcPct val="120000"/>
              </a:lnSpc>
              <a:spcBef>
                <a:spcPts val="1015"/>
              </a:spcBef>
              <a:buChar char="•"/>
              <a:tabLst>
                <a:tab pos="172085" algn="l"/>
              </a:tabLst>
            </a:pPr>
            <a:r>
              <a:rPr sz="2100" dirty="0">
                <a:latin typeface="Times New Roman"/>
                <a:cs typeface="Times New Roman"/>
              </a:rPr>
              <a:t>Ensures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quick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strong </a:t>
            </a:r>
            <a:r>
              <a:rPr sz="2100" dirty="0">
                <a:latin typeface="Times New Roman"/>
                <a:cs typeface="Times New Roman"/>
              </a:rPr>
              <a:t>signal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transitions.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9930" rIns="0" bIns="0" rtlCol="0">
            <a:spAutoFit/>
          </a:bodyPr>
          <a:lstStyle/>
          <a:p>
            <a:pPr marL="53213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Times New Roman"/>
                <a:cs typeface="Times New Roman"/>
              </a:rPr>
              <a:t>Middle</a:t>
            </a:r>
            <a:r>
              <a:rPr sz="3200" b="1" spc="-4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stage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5970" rIns="0" bIns="0" rtlCol="0">
            <a:spAutoFit/>
          </a:bodyPr>
          <a:lstStyle/>
          <a:p>
            <a:pPr marL="372745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Times New Roman"/>
                <a:cs typeface="Times New Roman"/>
              </a:rPr>
              <a:t>Middle</a:t>
            </a:r>
            <a:r>
              <a:rPr sz="3600" b="1" spc="5" dirty="0">
                <a:latin typeface="Times New Roman"/>
                <a:cs typeface="Times New Roman"/>
              </a:rPr>
              <a:t> </a:t>
            </a:r>
            <a:r>
              <a:rPr sz="3600" b="1" spc="-10" dirty="0">
                <a:latin typeface="Times New Roman"/>
                <a:cs typeface="Times New Roman"/>
              </a:rPr>
              <a:t>stage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83386" y="5656275"/>
            <a:ext cx="44837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Schematic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Cadence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Virtuoso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10778" y="1943227"/>
            <a:ext cx="3578860" cy="295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161F1F"/>
                </a:solidFill>
                <a:latin typeface="Times New Roman"/>
                <a:cs typeface="Times New Roman"/>
              </a:rPr>
              <a:t>Differential</a:t>
            </a:r>
            <a:r>
              <a:rPr sz="2400" b="1" spc="-110" dirty="0">
                <a:solidFill>
                  <a:srgbClr val="161F1F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161F1F"/>
                </a:solidFill>
                <a:latin typeface="Times New Roman"/>
                <a:cs typeface="Times New Roman"/>
              </a:rPr>
              <a:t>Bus: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solidFill>
                  <a:srgbClr val="161F1F"/>
                </a:solidFill>
                <a:latin typeface="Times New Roman"/>
                <a:cs typeface="Times New Roman"/>
              </a:rPr>
              <a:t>Instead</a:t>
            </a:r>
            <a:r>
              <a:rPr sz="2400" spc="-40" dirty="0">
                <a:solidFill>
                  <a:srgbClr val="161F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61F1F"/>
                </a:solidFill>
                <a:latin typeface="Times New Roman"/>
                <a:cs typeface="Times New Roman"/>
              </a:rPr>
              <a:t>of</a:t>
            </a:r>
            <a:r>
              <a:rPr sz="2400" spc="-15" dirty="0">
                <a:solidFill>
                  <a:srgbClr val="161F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61F1F"/>
                </a:solidFill>
                <a:latin typeface="Times New Roman"/>
                <a:cs typeface="Times New Roman"/>
              </a:rPr>
              <a:t>sending</a:t>
            </a:r>
            <a:r>
              <a:rPr sz="2400" spc="-15" dirty="0">
                <a:solidFill>
                  <a:srgbClr val="161F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61F1F"/>
                </a:solidFill>
                <a:latin typeface="Times New Roman"/>
                <a:cs typeface="Times New Roman"/>
              </a:rPr>
              <a:t>data</a:t>
            </a:r>
            <a:r>
              <a:rPr sz="2400" spc="-30" dirty="0">
                <a:solidFill>
                  <a:srgbClr val="161F1F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161F1F"/>
                </a:solidFill>
                <a:latin typeface="Times New Roman"/>
                <a:cs typeface="Times New Roman"/>
              </a:rPr>
              <a:t>on </a:t>
            </a:r>
            <a:r>
              <a:rPr sz="2400" dirty="0">
                <a:solidFill>
                  <a:srgbClr val="161F1F"/>
                </a:solidFill>
                <a:latin typeface="Times New Roman"/>
                <a:cs typeface="Times New Roman"/>
              </a:rPr>
              <a:t>one</a:t>
            </a:r>
            <a:r>
              <a:rPr sz="2400" spc="-15" dirty="0">
                <a:solidFill>
                  <a:srgbClr val="161F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61F1F"/>
                </a:solidFill>
                <a:latin typeface="Times New Roman"/>
                <a:cs typeface="Times New Roman"/>
              </a:rPr>
              <a:t>wire,</a:t>
            </a:r>
            <a:r>
              <a:rPr sz="2400" spc="-30" dirty="0">
                <a:solidFill>
                  <a:srgbClr val="161F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61F1F"/>
                </a:solidFill>
                <a:latin typeface="Times New Roman"/>
                <a:cs typeface="Times New Roman"/>
              </a:rPr>
              <a:t>CAN uses</a:t>
            </a:r>
            <a:r>
              <a:rPr sz="2400" spc="-25" dirty="0">
                <a:solidFill>
                  <a:srgbClr val="161F1F"/>
                </a:solidFill>
                <a:latin typeface="Times New Roman"/>
                <a:cs typeface="Times New Roman"/>
              </a:rPr>
              <a:t> two </a:t>
            </a:r>
            <a:r>
              <a:rPr sz="2400" dirty="0">
                <a:solidFill>
                  <a:srgbClr val="161F1F"/>
                </a:solidFill>
                <a:latin typeface="Times New Roman"/>
                <a:cs typeface="Times New Roman"/>
              </a:rPr>
              <a:t>wires</a:t>
            </a:r>
            <a:r>
              <a:rPr sz="2400" spc="-45" dirty="0">
                <a:solidFill>
                  <a:srgbClr val="161F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61F1F"/>
                </a:solidFill>
                <a:latin typeface="Times New Roman"/>
                <a:cs typeface="Times New Roman"/>
              </a:rPr>
              <a:t>(CANH</a:t>
            </a:r>
            <a:r>
              <a:rPr sz="2400" spc="-5" dirty="0">
                <a:solidFill>
                  <a:srgbClr val="161F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61F1F"/>
                </a:solidFill>
                <a:latin typeface="Times New Roman"/>
                <a:cs typeface="Times New Roman"/>
              </a:rPr>
              <a:t>and</a:t>
            </a:r>
            <a:r>
              <a:rPr sz="2400" spc="-45" dirty="0">
                <a:solidFill>
                  <a:srgbClr val="161F1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161F1F"/>
                </a:solidFill>
                <a:latin typeface="Times New Roman"/>
                <a:cs typeface="Times New Roman"/>
              </a:rPr>
              <a:t>CANL). </a:t>
            </a:r>
            <a:r>
              <a:rPr sz="2400" dirty="0">
                <a:solidFill>
                  <a:srgbClr val="161F1F"/>
                </a:solidFill>
                <a:latin typeface="Times New Roman"/>
                <a:cs typeface="Times New Roman"/>
              </a:rPr>
              <a:t>The</a:t>
            </a:r>
            <a:r>
              <a:rPr sz="2400" spc="-45" dirty="0">
                <a:solidFill>
                  <a:srgbClr val="161F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61F1F"/>
                </a:solidFill>
                <a:latin typeface="Times New Roman"/>
                <a:cs typeface="Times New Roman"/>
              </a:rPr>
              <a:t>difference</a:t>
            </a:r>
            <a:r>
              <a:rPr sz="2400" spc="-20" dirty="0">
                <a:solidFill>
                  <a:srgbClr val="161F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61F1F"/>
                </a:solidFill>
                <a:latin typeface="Times New Roman"/>
                <a:cs typeface="Times New Roman"/>
              </a:rPr>
              <a:t>between</a:t>
            </a:r>
            <a:r>
              <a:rPr sz="2400" spc="-25" dirty="0">
                <a:solidFill>
                  <a:srgbClr val="161F1F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161F1F"/>
                </a:solidFill>
                <a:latin typeface="Times New Roman"/>
                <a:cs typeface="Times New Roman"/>
              </a:rPr>
              <a:t>them </a:t>
            </a:r>
            <a:r>
              <a:rPr sz="2400" dirty="0">
                <a:solidFill>
                  <a:srgbClr val="161F1F"/>
                </a:solidFill>
                <a:latin typeface="Times New Roman"/>
                <a:cs typeface="Times New Roman"/>
              </a:rPr>
              <a:t>represents</a:t>
            </a:r>
            <a:r>
              <a:rPr sz="2400" spc="-55" dirty="0">
                <a:solidFill>
                  <a:srgbClr val="161F1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161F1F"/>
                </a:solidFill>
                <a:latin typeface="Times New Roman"/>
                <a:cs typeface="Times New Roman"/>
              </a:rPr>
              <a:t>data.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161F1F"/>
                </a:solidFill>
                <a:latin typeface="Times New Roman"/>
                <a:cs typeface="Times New Roman"/>
              </a:rPr>
              <a:t>This</a:t>
            </a:r>
            <a:r>
              <a:rPr sz="2400" spc="-25" dirty="0">
                <a:solidFill>
                  <a:srgbClr val="161F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61F1F"/>
                </a:solidFill>
                <a:latin typeface="Times New Roman"/>
                <a:cs typeface="Times New Roman"/>
              </a:rPr>
              <a:t>helps</a:t>
            </a:r>
            <a:r>
              <a:rPr sz="2400" spc="-10" dirty="0">
                <a:solidFill>
                  <a:srgbClr val="161F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61F1F"/>
                </a:solidFill>
                <a:latin typeface="Times New Roman"/>
                <a:cs typeface="Times New Roman"/>
              </a:rPr>
              <a:t>cancel</a:t>
            </a:r>
            <a:r>
              <a:rPr sz="2400" spc="-35" dirty="0">
                <a:solidFill>
                  <a:srgbClr val="161F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61F1F"/>
                </a:solidFill>
                <a:latin typeface="Times New Roman"/>
                <a:cs typeface="Times New Roman"/>
              </a:rPr>
              <a:t>noise</a:t>
            </a:r>
            <a:r>
              <a:rPr sz="2400" spc="-10" dirty="0">
                <a:solidFill>
                  <a:srgbClr val="161F1F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161F1F"/>
                </a:solidFill>
                <a:latin typeface="Times New Roman"/>
                <a:cs typeface="Times New Roman"/>
              </a:rPr>
              <a:t>and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161F1F"/>
                </a:solidFill>
                <a:latin typeface="Times New Roman"/>
                <a:cs typeface="Times New Roman"/>
              </a:rPr>
              <a:t>improves</a:t>
            </a:r>
            <a:r>
              <a:rPr sz="2400" spc="-25" dirty="0">
                <a:solidFill>
                  <a:srgbClr val="161F1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161F1F"/>
                </a:solidFill>
                <a:latin typeface="Times New Roman"/>
                <a:cs typeface="Times New Roman"/>
              </a:rPr>
              <a:t>reliability.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928" y="1363980"/>
            <a:ext cx="8122920" cy="387553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3963" y="6431076"/>
            <a:ext cx="7289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70" dirty="0">
                <a:latin typeface="Tahoma"/>
                <a:cs typeface="Tahoma"/>
              </a:rPr>
              <a:t>12</a:t>
            </a:r>
            <a:r>
              <a:rPr sz="1000" spc="-2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/</a:t>
            </a:r>
            <a:r>
              <a:rPr sz="1000" spc="-204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4</a:t>
            </a:r>
            <a:r>
              <a:rPr sz="1000" spc="-2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/</a:t>
            </a:r>
            <a:r>
              <a:rPr sz="1000" spc="-204" dirty="0">
                <a:latin typeface="Tahoma"/>
                <a:cs typeface="Tahoma"/>
              </a:rPr>
              <a:t> </a:t>
            </a:r>
            <a:r>
              <a:rPr sz="1000" spc="75" dirty="0">
                <a:latin typeface="Tahoma"/>
                <a:cs typeface="Tahoma"/>
              </a:rPr>
              <a:t>2025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18823" y="6431076"/>
            <a:ext cx="1962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5" dirty="0">
                <a:latin typeface="Tahoma"/>
                <a:cs typeface="Tahoma"/>
              </a:rPr>
              <a:t>18 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84115" y="184988"/>
            <a:ext cx="7192853" cy="607057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919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Times New Roman"/>
                <a:cs typeface="Times New Roman"/>
              </a:rPr>
              <a:t>CAN_H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and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CAN_L</a:t>
            </a:r>
            <a:r>
              <a:rPr sz="2800" b="1" spc="-15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Stage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5420" y="1687829"/>
            <a:ext cx="4652645" cy="295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745" indent="-114300">
              <a:lnSpc>
                <a:spcPct val="100000"/>
              </a:lnSpc>
              <a:spcBef>
                <a:spcPts val="100"/>
              </a:spcBef>
              <a:buSzPct val="95833"/>
              <a:buChar char="•"/>
              <a:tabLst>
                <a:tab pos="118745" algn="l"/>
              </a:tabLst>
            </a:pPr>
            <a:r>
              <a:rPr sz="2400" spc="-30" dirty="0">
                <a:latin typeface="Times New Roman"/>
                <a:cs typeface="Times New Roman"/>
              </a:rPr>
              <a:t>Two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large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MOSFETs</a:t>
            </a:r>
            <a:r>
              <a:rPr sz="2400" spc="-1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118745" indent="-114300">
              <a:lnSpc>
                <a:spcPct val="100000"/>
              </a:lnSpc>
              <a:buSzPct val="95833"/>
              <a:buFont typeface="Times New Roman"/>
              <a:buChar char="•"/>
              <a:tabLst>
                <a:tab pos="118745" algn="l"/>
              </a:tabLst>
            </a:pPr>
            <a:r>
              <a:rPr sz="2400" b="1" dirty="0">
                <a:latin typeface="Times New Roman"/>
                <a:cs typeface="Times New Roman"/>
              </a:rPr>
              <a:t>M40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→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drives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CANH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(high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line).</a:t>
            </a:r>
            <a:endParaRPr sz="2400">
              <a:latin typeface="Times New Roman"/>
              <a:cs typeface="Times New Roman"/>
            </a:endParaRPr>
          </a:p>
          <a:p>
            <a:pPr marL="118745" indent="-114300">
              <a:lnSpc>
                <a:spcPct val="100000"/>
              </a:lnSpc>
              <a:buSzPct val="95833"/>
              <a:buFont typeface="Times New Roman"/>
              <a:buChar char="•"/>
              <a:tabLst>
                <a:tab pos="118745" algn="l"/>
              </a:tabLst>
            </a:pPr>
            <a:r>
              <a:rPr sz="2400" b="1" dirty="0">
                <a:latin typeface="Times New Roman"/>
                <a:cs typeface="Times New Roman"/>
              </a:rPr>
              <a:t>M41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→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drives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CANL </a:t>
            </a:r>
            <a:r>
              <a:rPr sz="2400" dirty="0">
                <a:latin typeface="Times New Roman"/>
                <a:cs typeface="Times New Roman"/>
              </a:rPr>
              <a:t>(low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line).</a:t>
            </a:r>
            <a:endParaRPr sz="2400">
              <a:latin typeface="Times New Roman"/>
              <a:cs typeface="Times New Roman"/>
            </a:endParaRPr>
          </a:p>
          <a:p>
            <a:pPr marL="12700" marR="5080" indent="-8255">
              <a:lnSpc>
                <a:spcPct val="100000"/>
              </a:lnSpc>
              <a:buSzPct val="95833"/>
              <a:buFont typeface="Times New Roman"/>
              <a:buChar char="•"/>
              <a:tabLst>
                <a:tab pos="118745" algn="l"/>
              </a:tabLst>
            </a:pPr>
            <a:r>
              <a:rPr sz="2400" b="1" dirty="0">
                <a:latin typeface="Times New Roman"/>
                <a:cs typeface="Times New Roman"/>
              </a:rPr>
              <a:t>	R1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&amp;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R2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series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resistors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limit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short- </a:t>
            </a:r>
            <a:r>
              <a:rPr sz="2400" dirty="0">
                <a:latin typeface="Times New Roman"/>
                <a:cs typeface="Times New Roman"/>
              </a:rPr>
              <a:t>circuit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current.</a:t>
            </a:r>
            <a:endParaRPr sz="2400">
              <a:latin typeface="Times New Roman"/>
              <a:cs typeface="Times New Roman"/>
            </a:endParaRPr>
          </a:p>
          <a:p>
            <a:pPr marL="12700" marR="351790" indent="-8255">
              <a:lnSpc>
                <a:spcPct val="100000"/>
              </a:lnSpc>
              <a:buSzPct val="95833"/>
              <a:buFont typeface="Times New Roman"/>
              <a:buChar char="•"/>
              <a:tabLst>
                <a:tab pos="118745" algn="l"/>
              </a:tabLst>
            </a:pPr>
            <a:r>
              <a:rPr sz="2400" b="1" dirty="0">
                <a:latin typeface="Times New Roman"/>
                <a:cs typeface="Times New Roman"/>
              </a:rPr>
              <a:t>	D1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&amp;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D2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Schottky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diodes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protect </a:t>
            </a:r>
            <a:r>
              <a:rPr sz="2400" dirty="0">
                <a:latin typeface="Times New Roman"/>
                <a:cs typeface="Times New Roman"/>
              </a:rPr>
              <a:t>against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overvoltage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and </a:t>
            </a:r>
            <a:r>
              <a:rPr sz="2400" spc="-10" dirty="0">
                <a:latin typeface="Times New Roman"/>
                <a:cs typeface="Times New Roman"/>
              </a:rPr>
              <a:t>undervoltage.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2351" rIns="0" bIns="0" rtlCol="0">
            <a:spAutoFit/>
          </a:bodyPr>
          <a:lstStyle/>
          <a:p>
            <a:pPr marL="34036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Times New Roman"/>
                <a:cs typeface="Times New Roman"/>
              </a:rPr>
              <a:t>CAN_H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and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CAN_L</a:t>
            </a:r>
            <a:r>
              <a:rPr sz="2800" b="1" spc="-15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Stage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08959" y="6329883"/>
            <a:ext cx="44837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Schematic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Cadence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Virtuoso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0808" y="847344"/>
            <a:ext cx="9930384" cy="54635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663" y="6448470"/>
            <a:ext cx="70358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60"/>
              </a:lnSpc>
            </a:pPr>
            <a:r>
              <a:rPr sz="1000" spc="70" dirty="0">
                <a:latin typeface="Tahoma"/>
                <a:cs typeface="Tahoma"/>
              </a:rPr>
              <a:t>12</a:t>
            </a:r>
            <a:r>
              <a:rPr sz="1000" spc="-2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/</a:t>
            </a:r>
            <a:r>
              <a:rPr sz="1000" spc="-204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4</a:t>
            </a:r>
            <a:r>
              <a:rPr sz="1000" spc="-2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/</a:t>
            </a:r>
            <a:r>
              <a:rPr sz="1000" spc="-204" dirty="0">
                <a:latin typeface="Tahoma"/>
                <a:cs typeface="Tahoma"/>
              </a:rPr>
              <a:t> </a:t>
            </a:r>
            <a:r>
              <a:rPr sz="1000" spc="75" dirty="0">
                <a:latin typeface="Tahoma"/>
                <a:cs typeface="Tahoma"/>
              </a:rPr>
              <a:t>2025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18823" y="6431076"/>
            <a:ext cx="1962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5" dirty="0">
                <a:latin typeface="Tahoma"/>
                <a:cs typeface="Tahoma"/>
              </a:rPr>
              <a:t>20 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38166" y="885444"/>
            <a:ext cx="5723255" cy="5724525"/>
            <a:chOff x="738166" y="885444"/>
            <a:chExt cx="5723255" cy="57245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8166" y="885444"/>
              <a:ext cx="5722926" cy="572414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94524" y="2049779"/>
              <a:ext cx="3311525" cy="1631314"/>
            </a:xfrm>
            <a:custGeom>
              <a:avLst/>
              <a:gdLst/>
              <a:ahLst/>
              <a:cxnLst/>
              <a:rect l="l" t="t" r="r" b="b"/>
              <a:pathLst>
                <a:path w="3311525" h="1631314">
                  <a:moveTo>
                    <a:pt x="9004" y="2032"/>
                  </a:moveTo>
                  <a:lnTo>
                    <a:pt x="6985" y="0"/>
                  </a:lnTo>
                  <a:lnTo>
                    <a:pt x="2019" y="0"/>
                  </a:lnTo>
                  <a:lnTo>
                    <a:pt x="0" y="2032"/>
                  </a:lnTo>
                  <a:lnTo>
                    <a:pt x="0" y="6985"/>
                  </a:lnTo>
                  <a:lnTo>
                    <a:pt x="2019" y="9017"/>
                  </a:lnTo>
                  <a:lnTo>
                    <a:pt x="6985" y="9017"/>
                  </a:lnTo>
                  <a:lnTo>
                    <a:pt x="9004" y="6985"/>
                  </a:lnTo>
                  <a:lnTo>
                    <a:pt x="9004" y="4445"/>
                  </a:lnTo>
                  <a:lnTo>
                    <a:pt x="9004" y="2032"/>
                  </a:lnTo>
                  <a:close/>
                </a:path>
                <a:path w="3311525" h="1631314">
                  <a:moveTo>
                    <a:pt x="3310953" y="1623822"/>
                  </a:moveTo>
                  <a:lnTo>
                    <a:pt x="3308921" y="1621790"/>
                  </a:lnTo>
                  <a:lnTo>
                    <a:pt x="3303968" y="1621790"/>
                  </a:lnTo>
                  <a:lnTo>
                    <a:pt x="3301936" y="1623822"/>
                  </a:lnTo>
                  <a:lnTo>
                    <a:pt x="3301936" y="1628775"/>
                  </a:lnTo>
                  <a:lnTo>
                    <a:pt x="3303968" y="1630807"/>
                  </a:lnTo>
                  <a:lnTo>
                    <a:pt x="3308921" y="1630807"/>
                  </a:lnTo>
                  <a:lnTo>
                    <a:pt x="3310953" y="1628775"/>
                  </a:lnTo>
                  <a:lnTo>
                    <a:pt x="3310953" y="1626235"/>
                  </a:lnTo>
                  <a:lnTo>
                    <a:pt x="3310953" y="16238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663943" y="600329"/>
          <a:ext cx="5340984" cy="15640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8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8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8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12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State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D854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CAN_H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Voltage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D854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CAN_L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Voltage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D8542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Difference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D854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Bit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D85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Dominant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3.5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V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1.5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V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F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V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Recessive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C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2.5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V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C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2.5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V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CE9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V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C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113269" y="3406775"/>
          <a:ext cx="4234180" cy="7410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17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7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3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Dominant</a:t>
                      </a:r>
                      <a:r>
                        <a:rPr sz="1800" b="1" spc="-9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bit</a:t>
                      </a:r>
                      <a:r>
                        <a:rPr sz="1800" b="1" spc="-9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(0):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D854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CAN_H</a:t>
                      </a:r>
                      <a:r>
                        <a:rPr sz="1800" b="1" spc="-9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spc="-28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&gt;</a:t>
                      </a:r>
                      <a:r>
                        <a:rPr sz="1800" b="1" spc="-8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CAN_L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D85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Recessive</a:t>
                      </a:r>
                      <a:r>
                        <a:rPr sz="18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50" dirty="0">
                          <a:latin typeface="Tahoma"/>
                          <a:cs typeface="Tahoma"/>
                        </a:rPr>
                        <a:t>bit</a:t>
                      </a:r>
                      <a:r>
                        <a:rPr sz="1800" spc="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20" dirty="0">
                          <a:latin typeface="Tahoma"/>
                          <a:cs typeface="Tahoma"/>
                        </a:rPr>
                        <a:t>(1):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100" dirty="0">
                          <a:latin typeface="Tahoma"/>
                          <a:cs typeface="Tahoma"/>
                        </a:rPr>
                        <a:t>CAN_H</a:t>
                      </a:r>
                      <a:r>
                        <a:rPr sz="1800" spc="-1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125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1800" spc="-10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75" dirty="0">
                          <a:latin typeface="Tahoma"/>
                          <a:cs typeface="Tahoma"/>
                        </a:rPr>
                        <a:t>CAN_L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7645272" y="204000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6984" y="0"/>
                </a:moveTo>
                <a:lnTo>
                  <a:pt x="2031" y="0"/>
                </a:lnTo>
                <a:lnTo>
                  <a:pt x="0" y="2032"/>
                </a:lnTo>
                <a:lnTo>
                  <a:pt x="0" y="6985"/>
                </a:lnTo>
                <a:lnTo>
                  <a:pt x="2031" y="9016"/>
                </a:lnTo>
                <a:lnTo>
                  <a:pt x="6984" y="9016"/>
                </a:lnTo>
                <a:lnTo>
                  <a:pt x="9017" y="6985"/>
                </a:lnTo>
                <a:lnTo>
                  <a:pt x="9017" y="4572"/>
                </a:lnTo>
                <a:lnTo>
                  <a:pt x="9017" y="2032"/>
                </a:lnTo>
                <a:lnTo>
                  <a:pt x="69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684134" y="159080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6985" y="0"/>
                </a:moveTo>
                <a:lnTo>
                  <a:pt x="2032" y="0"/>
                </a:lnTo>
                <a:lnTo>
                  <a:pt x="0" y="2032"/>
                </a:lnTo>
                <a:lnTo>
                  <a:pt x="0" y="6985"/>
                </a:lnTo>
                <a:lnTo>
                  <a:pt x="2032" y="9017"/>
                </a:lnTo>
                <a:lnTo>
                  <a:pt x="6985" y="9017"/>
                </a:lnTo>
                <a:lnTo>
                  <a:pt x="9017" y="6985"/>
                </a:lnTo>
                <a:lnTo>
                  <a:pt x="9017" y="4445"/>
                </a:lnTo>
                <a:lnTo>
                  <a:pt x="9017" y="2032"/>
                </a:lnTo>
                <a:lnTo>
                  <a:pt x="698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088378" y="662686"/>
            <a:ext cx="8890" cy="9525"/>
          </a:xfrm>
          <a:custGeom>
            <a:avLst/>
            <a:gdLst/>
            <a:ahLst/>
            <a:cxnLst/>
            <a:rect l="l" t="t" r="r" b="b"/>
            <a:pathLst>
              <a:path w="8890" h="9525">
                <a:moveTo>
                  <a:pt x="6985" y="0"/>
                </a:moveTo>
                <a:lnTo>
                  <a:pt x="1904" y="0"/>
                </a:lnTo>
                <a:lnTo>
                  <a:pt x="0" y="2031"/>
                </a:lnTo>
                <a:lnTo>
                  <a:pt x="0" y="6985"/>
                </a:lnTo>
                <a:lnTo>
                  <a:pt x="1904" y="9016"/>
                </a:lnTo>
                <a:lnTo>
                  <a:pt x="6985" y="9016"/>
                </a:lnTo>
                <a:lnTo>
                  <a:pt x="8890" y="6985"/>
                </a:lnTo>
                <a:lnTo>
                  <a:pt x="8890" y="4444"/>
                </a:lnTo>
                <a:lnTo>
                  <a:pt x="8890" y="2031"/>
                </a:lnTo>
                <a:lnTo>
                  <a:pt x="698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026145" y="130746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6984" y="0"/>
                </a:moveTo>
                <a:lnTo>
                  <a:pt x="2031" y="0"/>
                </a:lnTo>
                <a:lnTo>
                  <a:pt x="0" y="2032"/>
                </a:lnTo>
                <a:lnTo>
                  <a:pt x="0" y="6985"/>
                </a:lnTo>
                <a:lnTo>
                  <a:pt x="2031" y="9017"/>
                </a:lnTo>
                <a:lnTo>
                  <a:pt x="6984" y="9017"/>
                </a:lnTo>
                <a:lnTo>
                  <a:pt x="9017" y="6985"/>
                </a:lnTo>
                <a:lnTo>
                  <a:pt x="9017" y="4445"/>
                </a:lnTo>
                <a:lnTo>
                  <a:pt x="9017" y="2032"/>
                </a:lnTo>
                <a:lnTo>
                  <a:pt x="69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061450" y="3700779"/>
            <a:ext cx="9525" cy="8890"/>
          </a:xfrm>
          <a:custGeom>
            <a:avLst/>
            <a:gdLst/>
            <a:ahLst/>
            <a:cxnLst/>
            <a:rect l="l" t="t" r="r" b="b"/>
            <a:pathLst>
              <a:path w="9525" h="8889">
                <a:moveTo>
                  <a:pt x="6984" y="0"/>
                </a:moveTo>
                <a:lnTo>
                  <a:pt x="2031" y="0"/>
                </a:lnTo>
                <a:lnTo>
                  <a:pt x="0" y="1905"/>
                </a:lnTo>
                <a:lnTo>
                  <a:pt x="0" y="6985"/>
                </a:lnTo>
                <a:lnTo>
                  <a:pt x="2031" y="8890"/>
                </a:lnTo>
                <a:lnTo>
                  <a:pt x="6984" y="8890"/>
                </a:lnTo>
                <a:lnTo>
                  <a:pt x="9017" y="6985"/>
                </a:lnTo>
                <a:lnTo>
                  <a:pt x="9017" y="4445"/>
                </a:lnTo>
                <a:lnTo>
                  <a:pt x="9017" y="1905"/>
                </a:lnTo>
                <a:lnTo>
                  <a:pt x="69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60426" y="169875"/>
            <a:ext cx="35604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Times New Roman"/>
                <a:cs typeface="Times New Roman"/>
              </a:rPr>
              <a:t>Expected</a:t>
            </a:r>
            <a:r>
              <a:rPr sz="3200" b="1" spc="-6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Waveform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79" y="905255"/>
            <a:ext cx="11036808" cy="57531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8739" y="1517091"/>
            <a:ext cx="378015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(Signal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Thermal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Protection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Circuit)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9453" y="4136897"/>
            <a:ext cx="2268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(Data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Transmitted)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9290" rIns="0" bIns="0" rtlCol="0">
            <a:spAutoFit/>
          </a:bodyPr>
          <a:lstStyle/>
          <a:p>
            <a:pPr marL="175260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latin typeface="Times New Roman"/>
                <a:cs typeface="Times New Roman"/>
              </a:rPr>
              <a:t>Result:</a:t>
            </a:r>
            <a:endParaRPr sz="3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3963" y="6431076"/>
            <a:ext cx="7289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70" dirty="0">
                <a:latin typeface="Tahoma"/>
                <a:cs typeface="Tahoma"/>
              </a:rPr>
              <a:t>12</a:t>
            </a:r>
            <a:r>
              <a:rPr sz="1000" spc="-2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/</a:t>
            </a:r>
            <a:r>
              <a:rPr sz="1000" spc="-204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4</a:t>
            </a:r>
            <a:r>
              <a:rPr sz="1000" spc="-2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/</a:t>
            </a:r>
            <a:r>
              <a:rPr sz="1000" spc="-204" dirty="0">
                <a:latin typeface="Tahoma"/>
                <a:cs typeface="Tahoma"/>
              </a:rPr>
              <a:t> </a:t>
            </a:r>
            <a:r>
              <a:rPr sz="1000" spc="75" dirty="0">
                <a:latin typeface="Tahoma"/>
                <a:cs typeface="Tahoma"/>
              </a:rPr>
              <a:t>2025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18823" y="6431076"/>
            <a:ext cx="1962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5" dirty="0">
                <a:latin typeface="Tahoma"/>
                <a:cs typeface="Tahoma"/>
              </a:rPr>
              <a:t>22 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 rotWithShape="1">
          <a:blip r:embed="rId2" cstate="print"/>
          <a:srcRect t="5127"/>
          <a:stretch/>
        </p:blipFill>
        <p:spPr>
          <a:xfrm>
            <a:off x="29817" y="762000"/>
            <a:ext cx="10370820" cy="567212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6CC79D6-DC41-4CBA-806A-18FC1BFE3A6A}"/>
              </a:ext>
            </a:extLst>
          </p:cNvPr>
          <p:cNvSpPr/>
          <p:nvPr/>
        </p:nvSpPr>
        <p:spPr>
          <a:xfrm>
            <a:off x="3124200" y="5943600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2C4D1F-A69A-456F-8E60-00E7F3DA33E6}"/>
              </a:ext>
            </a:extLst>
          </p:cNvPr>
          <p:cNvSpPr/>
          <p:nvPr/>
        </p:nvSpPr>
        <p:spPr>
          <a:xfrm>
            <a:off x="4267200" y="3505200"/>
            <a:ext cx="60198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EC343C-B8C0-4B0F-94D5-339B3350C959}"/>
              </a:ext>
            </a:extLst>
          </p:cNvPr>
          <p:cNvSpPr/>
          <p:nvPr/>
        </p:nvSpPr>
        <p:spPr>
          <a:xfrm>
            <a:off x="4287078" y="2735660"/>
            <a:ext cx="60198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B391FF-52E4-44DC-A25D-03427857514B}"/>
              </a:ext>
            </a:extLst>
          </p:cNvPr>
          <p:cNvSpPr/>
          <p:nvPr/>
        </p:nvSpPr>
        <p:spPr>
          <a:xfrm>
            <a:off x="1602943" y="-43264"/>
            <a:ext cx="129426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spc="-10" dirty="0">
                <a:latin typeface="Times New Roman"/>
                <a:cs typeface="Times New Roman"/>
              </a:rPr>
              <a:t>Result</a:t>
            </a:r>
            <a:endParaRPr lang="en-IN" sz="3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487EB-60AF-803F-2CD7-C4B39F330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61" y="20523"/>
            <a:ext cx="8917939" cy="677108"/>
          </a:xfrm>
        </p:spPr>
        <p:txBody>
          <a:bodyPr/>
          <a:lstStyle/>
          <a:p>
            <a:r>
              <a:rPr lang="en-US" sz="4400" b="1" dirty="0"/>
              <a:t>Receiver</a:t>
            </a:r>
            <a:r>
              <a:rPr lang="en-US" sz="4400" b="1" spc="-80" dirty="0"/>
              <a:t> </a:t>
            </a:r>
            <a:r>
              <a:rPr lang="en-US" sz="4400" b="1" spc="-10" dirty="0"/>
              <a:t>Circuit</a:t>
            </a:r>
            <a:endParaRPr lang="en-US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0BB95D-BCB5-44A7-0786-3E144634E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990600"/>
            <a:ext cx="8748712" cy="5498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3309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3963" y="6431076"/>
            <a:ext cx="7289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70" dirty="0">
                <a:latin typeface="Tahoma"/>
                <a:cs typeface="Tahoma"/>
              </a:rPr>
              <a:t>12</a:t>
            </a:r>
            <a:r>
              <a:rPr sz="1000" spc="-2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/</a:t>
            </a:r>
            <a:r>
              <a:rPr sz="1000" spc="-204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4</a:t>
            </a:r>
            <a:r>
              <a:rPr sz="1000" spc="-2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/</a:t>
            </a:r>
            <a:r>
              <a:rPr sz="1000" spc="-204" dirty="0">
                <a:latin typeface="Tahoma"/>
                <a:cs typeface="Tahoma"/>
              </a:rPr>
              <a:t> </a:t>
            </a:r>
            <a:r>
              <a:rPr sz="1000" spc="75" dirty="0">
                <a:latin typeface="Tahoma"/>
                <a:cs typeface="Tahoma"/>
              </a:rPr>
              <a:t>2025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18823" y="6431076"/>
            <a:ext cx="1962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5" dirty="0">
                <a:latin typeface="Tahoma"/>
                <a:cs typeface="Tahoma"/>
              </a:rPr>
              <a:t>23 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5135" y="20523"/>
            <a:ext cx="25057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Times New Roman"/>
                <a:cs typeface="Times New Roman"/>
              </a:rPr>
              <a:t>Receiver</a:t>
            </a:r>
            <a:r>
              <a:rPr sz="2800" b="1" spc="-8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Circuit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19" y="696468"/>
            <a:ext cx="8110728" cy="564489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305800" y="990600"/>
            <a:ext cx="3886200" cy="412997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8890" indent="-28702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receiver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stage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CAN </a:t>
            </a:r>
            <a:r>
              <a:rPr sz="2000" dirty="0">
                <a:latin typeface="Times New Roman"/>
                <a:cs typeface="Times New Roman"/>
              </a:rPr>
              <a:t>transceiver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built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around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a </a:t>
            </a:r>
            <a:r>
              <a:rPr sz="2000" dirty="0">
                <a:latin typeface="Times New Roman"/>
                <a:cs typeface="Times New Roman"/>
              </a:rPr>
              <a:t>two-stage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hysteresis comparator,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essential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handling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noisy </a:t>
            </a:r>
            <a:r>
              <a:rPr sz="2000" dirty="0">
                <a:latin typeface="Times New Roman"/>
                <a:cs typeface="Times New Roman"/>
              </a:rPr>
              <a:t>environment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bus.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0"/>
              </a:spcBef>
              <a:buFont typeface="Arial MT"/>
              <a:buChar char="•"/>
            </a:pPr>
            <a:endParaRPr sz="2000" dirty="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differential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input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signals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bus,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VCANH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 </a:t>
            </a:r>
            <a:r>
              <a:rPr sz="2000" dirty="0">
                <a:latin typeface="Times New Roman"/>
                <a:cs typeface="Times New Roman"/>
              </a:rPr>
              <a:t>VCANL,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first </a:t>
            </a:r>
            <a:r>
              <a:rPr sz="2000" dirty="0">
                <a:latin typeface="Times New Roman"/>
                <a:cs typeface="Times New Roman"/>
              </a:rPr>
              <a:t>differential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pair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(transistors </a:t>
            </a:r>
            <a:r>
              <a:rPr sz="2000" dirty="0">
                <a:latin typeface="Times New Roman"/>
                <a:cs typeface="Times New Roman"/>
              </a:rPr>
              <a:t>M42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M43).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voltage </a:t>
            </a:r>
            <a:r>
              <a:rPr sz="2000" dirty="0">
                <a:latin typeface="Times New Roman"/>
                <a:cs typeface="Times New Roman"/>
              </a:rPr>
              <a:t>difference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these </a:t>
            </a:r>
            <a:r>
              <a:rPr sz="2000" dirty="0">
                <a:latin typeface="Times New Roman"/>
                <a:cs typeface="Times New Roman"/>
              </a:rPr>
              <a:t>signals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represents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state </a:t>
            </a:r>
            <a:r>
              <a:rPr sz="2000" dirty="0">
                <a:latin typeface="Times New Roman"/>
                <a:cs typeface="Times New Roman"/>
              </a:rPr>
              <a:t>(dominant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recessive).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8574" y="698296"/>
            <a:ext cx="10468356" cy="58216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873963" y="6431076"/>
            <a:ext cx="7289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70" dirty="0">
                <a:latin typeface="Tahoma"/>
                <a:cs typeface="Tahoma"/>
              </a:rPr>
              <a:t>12</a:t>
            </a:r>
            <a:r>
              <a:rPr sz="1000" spc="-2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/</a:t>
            </a:r>
            <a:r>
              <a:rPr sz="1000" spc="-204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4</a:t>
            </a:r>
            <a:r>
              <a:rPr sz="1000" spc="-2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/</a:t>
            </a:r>
            <a:r>
              <a:rPr sz="1000" spc="-204" dirty="0">
                <a:latin typeface="Tahoma"/>
                <a:cs typeface="Tahoma"/>
              </a:rPr>
              <a:t> </a:t>
            </a:r>
            <a:r>
              <a:rPr sz="1000" spc="75" dirty="0">
                <a:latin typeface="Tahoma"/>
                <a:cs typeface="Tahoma"/>
              </a:rPr>
              <a:t>2025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18823" y="6431076"/>
            <a:ext cx="1962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5" dirty="0">
                <a:latin typeface="Tahoma"/>
                <a:cs typeface="Tahoma"/>
              </a:rPr>
              <a:t>24 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6806" rIns="0" bIns="0" rtlCol="0">
            <a:spAutoFit/>
          </a:bodyPr>
          <a:lstStyle/>
          <a:p>
            <a:pPr marL="8255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Times New Roman"/>
                <a:cs typeface="Times New Roman"/>
              </a:rPr>
              <a:t>Receiving</a:t>
            </a:r>
            <a:r>
              <a:rPr sz="3600" b="1" spc="-215" dirty="0">
                <a:latin typeface="Times New Roman"/>
                <a:cs typeface="Times New Roman"/>
              </a:rPr>
              <a:t> </a:t>
            </a:r>
            <a:r>
              <a:rPr sz="3600" b="1" spc="-10" dirty="0">
                <a:latin typeface="Times New Roman"/>
                <a:cs typeface="Times New Roman"/>
              </a:rPr>
              <a:t>Wave</a:t>
            </a:r>
            <a:r>
              <a:rPr sz="3600" b="1" spc="-170" dirty="0">
                <a:latin typeface="Times New Roman"/>
                <a:cs typeface="Times New Roman"/>
              </a:rPr>
              <a:t> </a:t>
            </a:r>
            <a:r>
              <a:rPr sz="3600" b="1" spc="-20" dirty="0">
                <a:latin typeface="Times New Roman"/>
                <a:cs typeface="Times New Roman"/>
              </a:rPr>
              <a:t>Form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72E79A-D0C0-41A1-B447-2A7883A5D9D8}"/>
              </a:ext>
            </a:extLst>
          </p:cNvPr>
          <p:cNvSpPr/>
          <p:nvPr/>
        </p:nvSpPr>
        <p:spPr>
          <a:xfrm>
            <a:off x="3657600" y="3124200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7408" y="281940"/>
            <a:ext cx="10727436" cy="599541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752469" y="6017767"/>
            <a:ext cx="423354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Times New Roman"/>
                <a:cs typeface="Times New Roman"/>
              </a:rPr>
              <a:t>CAN</a:t>
            </a:r>
            <a:r>
              <a:rPr sz="3200" b="1" spc="-4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Protocol</a:t>
            </a:r>
            <a:r>
              <a:rPr sz="3200" b="1" spc="-90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Structure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3963" y="6431076"/>
            <a:ext cx="7289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70" dirty="0">
                <a:latin typeface="Tahoma"/>
                <a:cs typeface="Tahoma"/>
              </a:rPr>
              <a:t>12</a:t>
            </a:r>
            <a:r>
              <a:rPr sz="1000" spc="-2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/</a:t>
            </a:r>
            <a:r>
              <a:rPr sz="1000" spc="-204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4</a:t>
            </a:r>
            <a:r>
              <a:rPr sz="1000" spc="-2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/</a:t>
            </a:r>
            <a:r>
              <a:rPr sz="1000" spc="-204" dirty="0">
                <a:latin typeface="Tahoma"/>
                <a:cs typeface="Tahoma"/>
              </a:rPr>
              <a:t> </a:t>
            </a:r>
            <a:r>
              <a:rPr sz="1000" spc="75" dirty="0">
                <a:latin typeface="Tahoma"/>
                <a:cs typeface="Tahoma"/>
              </a:rPr>
              <a:t>2025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18823" y="6431076"/>
            <a:ext cx="1962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5" dirty="0">
                <a:latin typeface="Tahoma"/>
                <a:cs typeface="Tahoma"/>
              </a:rPr>
              <a:t>26 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0354" rIns="0" bIns="0" rtlCol="0">
            <a:spAutoFit/>
          </a:bodyPr>
          <a:lstStyle/>
          <a:p>
            <a:pPr marL="56642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Calibri"/>
                <a:cs typeface="Calibri"/>
              </a:rPr>
              <a:t>RTL</a:t>
            </a:r>
            <a:r>
              <a:rPr sz="2800" b="1" spc="-9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Implementation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Overview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4883" y="1162304"/>
            <a:ext cx="6684009" cy="4948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dirty="0">
                <a:latin typeface="Times New Roman"/>
                <a:cs typeface="Times New Roman"/>
              </a:rPr>
              <a:t>Key</a:t>
            </a:r>
            <a:r>
              <a:rPr sz="1900" b="1" spc="-10" dirty="0">
                <a:latin typeface="Times New Roman"/>
                <a:cs typeface="Times New Roman"/>
              </a:rPr>
              <a:t> </a:t>
            </a:r>
            <a:r>
              <a:rPr sz="1900" b="1" spc="-30" dirty="0">
                <a:latin typeface="Times New Roman"/>
                <a:cs typeface="Times New Roman"/>
              </a:rPr>
              <a:t>RTL</a:t>
            </a:r>
            <a:r>
              <a:rPr sz="1900" b="1" spc="-95" dirty="0">
                <a:latin typeface="Times New Roman"/>
                <a:cs typeface="Times New Roman"/>
              </a:rPr>
              <a:t> </a:t>
            </a:r>
            <a:r>
              <a:rPr sz="1900" b="1" spc="-10" dirty="0">
                <a:latin typeface="Times New Roman"/>
                <a:cs typeface="Times New Roman"/>
              </a:rPr>
              <a:t>Modules:</a:t>
            </a:r>
            <a:endParaRPr sz="1900" dirty="0">
              <a:latin typeface="Times New Roman"/>
              <a:cs typeface="Times New Roman"/>
            </a:endParaRPr>
          </a:p>
          <a:p>
            <a:pPr marL="252729" indent="-240029">
              <a:lnSpc>
                <a:spcPct val="100000"/>
              </a:lnSpc>
              <a:buAutoNum type="arabicPeriod"/>
              <a:tabLst>
                <a:tab pos="252729" algn="l"/>
              </a:tabLst>
            </a:pPr>
            <a:r>
              <a:rPr sz="1900" dirty="0">
                <a:latin typeface="Times New Roman"/>
                <a:cs typeface="Times New Roman"/>
              </a:rPr>
              <a:t>can_top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(Main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Controller)</a:t>
            </a:r>
            <a:endParaRPr sz="1900" dirty="0">
              <a:latin typeface="Times New Roman"/>
              <a:cs typeface="Times New Roman"/>
            </a:endParaRPr>
          </a:p>
          <a:p>
            <a:pPr marL="337185" lvl="1" indent="-143510">
              <a:lnSpc>
                <a:spcPct val="100000"/>
              </a:lnSpc>
              <a:buChar char="•"/>
              <a:tabLst>
                <a:tab pos="337185" algn="l"/>
              </a:tabLst>
            </a:pPr>
            <a:r>
              <a:rPr sz="1900" dirty="0">
                <a:latin typeface="Times New Roman"/>
                <a:cs typeface="Times New Roman"/>
              </a:rPr>
              <a:t>Register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interface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(read/write)</a:t>
            </a:r>
            <a:endParaRPr sz="1900" dirty="0">
              <a:latin typeface="Times New Roman"/>
              <a:cs typeface="Times New Roman"/>
            </a:endParaRPr>
          </a:p>
          <a:p>
            <a:pPr marL="337185" lvl="1" indent="-143510">
              <a:lnSpc>
                <a:spcPct val="100000"/>
              </a:lnSpc>
              <a:buChar char="•"/>
              <a:tabLst>
                <a:tab pos="337185" algn="l"/>
              </a:tabLst>
            </a:pPr>
            <a:r>
              <a:rPr sz="1900" dirty="0">
                <a:latin typeface="Times New Roman"/>
                <a:cs typeface="Times New Roman"/>
              </a:rPr>
              <a:t>50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MHz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clock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support</a:t>
            </a:r>
            <a:endParaRPr sz="1900" dirty="0">
              <a:latin typeface="Times New Roman"/>
              <a:cs typeface="Times New Roman"/>
            </a:endParaRPr>
          </a:p>
          <a:p>
            <a:pPr marL="337185" lvl="1" indent="-143510">
              <a:lnSpc>
                <a:spcPct val="100000"/>
              </a:lnSpc>
              <a:buChar char="•"/>
              <a:tabLst>
                <a:tab pos="337185" algn="l"/>
              </a:tabLst>
            </a:pPr>
            <a:r>
              <a:rPr sz="1900" dirty="0">
                <a:latin typeface="Times New Roman"/>
                <a:cs typeface="Times New Roman"/>
              </a:rPr>
              <a:t>Interrupt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signals</a:t>
            </a:r>
            <a:endParaRPr sz="1900" dirty="0">
              <a:latin typeface="Times New Roman"/>
              <a:cs typeface="Times New Roman"/>
            </a:endParaRPr>
          </a:p>
          <a:p>
            <a:pPr marL="252729" indent="-240029">
              <a:lnSpc>
                <a:spcPct val="100000"/>
              </a:lnSpc>
              <a:buAutoNum type="arabicPeriod"/>
              <a:tabLst>
                <a:tab pos="252729" algn="l"/>
              </a:tabLst>
            </a:pPr>
            <a:r>
              <a:rPr sz="1900" dirty="0">
                <a:latin typeface="Times New Roman"/>
                <a:cs typeface="Times New Roman"/>
              </a:rPr>
              <a:t>can_bittiming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(Bit</a:t>
            </a:r>
            <a:r>
              <a:rPr sz="1900" spc="-9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Timing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Generator)</a:t>
            </a:r>
            <a:endParaRPr sz="1900" dirty="0">
              <a:latin typeface="Times New Roman"/>
              <a:cs typeface="Times New Roman"/>
            </a:endParaRPr>
          </a:p>
          <a:p>
            <a:pPr marL="337185" lvl="1" indent="-143510">
              <a:lnSpc>
                <a:spcPct val="100000"/>
              </a:lnSpc>
              <a:buChar char="•"/>
              <a:tabLst>
                <a:tab pos="337185" algn="l"/>
              </a:tabLst>
            </a:pPr>
            <a:r>
              <a:rPr sz="1900" dirty="0">
                <a:latin typeface="Times New Roman"/>
                <a:cs typeface="Times New Roman"/>
              </a:rPr>
              <a:t>Programmable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BRP</a:t>
            </a:r>
            <a:r>
              <a:rPr sz="1900" spc="-10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(Baud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Rate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Prescaler)</a:t>
            </a:r>
            <a:endParaRPr sz="1900" dirty="0">
              <a:latin typeface="Times New Roman"/>
              <a:cs typeface="Times New Roman"/>
            </a:endParaRPr>
          </a:p>
          <a:p>
            <a:pPr marL="332740" lvl="1" indent="-139065">
              <a:lnSpc>
                <a:spcPct val="100000"/>
              </a:lnSpc>
              <a:buChar char="•"/>
              <a:tabLst>
                <a:tab pos="332740" algn="l"/>
              </a:tabLst>
            </a:pPr>
            <a:r>
              <a:rPr sz="1900" dirty="0">
                <a:latin typeface="Times New Roman"/>
                <a:cs typeface="Times New Roman"/>
              </a:rPr>
              <a:t>TSEG1,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TSEG2,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SJW</a:t>
            </a:r>
            <a:r>
              <a:rPr sz="1900" spc="-7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timing</a:t>
            </a:r>
            <a:endParaRPr sz="1900" dirty="0">
              <a:latin typeface="Times New Roman"/>
              <a:cs typeface="Times New Roman"/>
            </a:endParaRPr>
          </a:p>
          <a:p>
            <a:pPr marL="337185" lvl="1" indent="-143510">
              <a:lnSpc>
                <a:spcPct val="100000"/>
              </a:lnSpc>
              <a:buChar char="•"/>
              <a:tabLst>
                <a:tab pos="337185" algn="l"/>
              </a:tabLst>
            </a:pPr>
            <a:r>
              <a:rPr sz="1900" dirty="0">
                <a:latin typeface="Times New Roman"/>
                <a:cs typeface="Times New Roman"/>
              </a:rPr>
              <a:t>Sample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point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generation</a:t>
            </a:r>
            <a:endParaRPr sz="1900" dirty="0">
              <a:latin typeface="Times New Roman"/>
              <a:cs typeface="Times New Roman"/>
            </a:endParaRPr>
          </a:p>
          <a:p>
            <a:pPr marL="252729" indent="-240029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52729" algn="l"/>
              </a:tabLst>
            </a:pPr>
            <a:r>
              <a:rPr sz="1900" dirty="0">
                <a:latin typeface="Times New Roman"/>
                <a:cs typeface="Times New Roman"/>
              </a:rPr>
              <a:t>can_tx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(Transmitter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Engine)</a:t>
            </a:r>
            <a:endParaRPr sz="1900" dirty="0">
              <a:latin typeface="Times New Roman"/>
              <a:cs typeface="Times New Roman"/>
            </a:endParaRPr>
          </a:p>
          <a:p>
            <a:pPr marL="337185" lvl="1" indent="-143510">
              <a:lnSpc>
                <a:spcPct val="100000"/>
              </a:lnSpc>
              <a:buChar char="•"/>
              <a:tabLst>
                <a:tab pos="337185" algn="l"/>
              </a:tabLst>
            </a:pPr>
            <a:r>
              <a:rPr sz="1900" spc="-10" dirty="0">
                <a:latin typeface="Times New Roman"/>
                <a:cs typeface="Times New Roman"/>
              </a:rPr>
              <a:t>6-</a:t>
            </a:r>
            <a:r>
              <a:rPr sz="1900" dirty="0">
                <a:latin typeface="Times New Roman"/>
                <a:cs typeface="Times New Roman"/>
              </a:rPr>
              <a:t>state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FSM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(IDLE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→</a:t>
            </a:r>
            <a:r>
              <a:rPr sz="1900" spc="-114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ARB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→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-114" dirty="0">
                <a:latin typeface="Times New Roman"/>
                <a:cs typeface="Times New Roman"/>
              </a:rPr>
              <a:t>DATA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→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CRC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→</a:t>
            </a:r>
            <a:r>
              <a:rPr sz="1900" spc="-1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ACK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→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END)</a:t>
            </a:r>
            <a:endParaRPr sz="1900" dirty="0">
              <a:latin typeface="Times New Roman"/>
              <a:cs typeface="Times New Roman"/>
            </a:endParaRPr>
          </a:p>
          <a:p>
            <a:pPr marL="337185" lvl="1" indent="-143510">
              <a:lnSpc>
                <a:spcPct val="100000"/>
              </a:lnSpc>
              <a:buChar char="•"/>
              <a:tabLst>
                <a:tab pos="337185" algn="l"/>
              </a:tabLst>
            </a:pPr>
            <a:r>
              <a:rPr sz="1900" dirty="0">
                <a:latin typeface="Times New Roman"/>
                <a:cs typeface="Times New Roman"/>
              </a:rPr>
              <a:t>Bit</a:t>
            </a:r>
            <a:r>
              <a:rPr sz="1900" spc="-10" dirty="0">
                <a:latin typeface="Times New Roman"/>
                <a:cs typeface="Times New Roman"/>
              </a:rPr>
              <a:t> stuffing</a:t>
            </a:r>
            <a:endParaRPr sz="1900" dirty="0">
              <a:latin typeface="Times New Roman"/>
              <a:cs typeface="Times New Roman"/>
            </a:endParaRPr>
          </a:p>
          <a:p>
            <a:pPr marL="337185" lvl="1" indent="-143510">
              <a:lnSpc>
                <a:spcPct val="100000"/>
              </a:lnSpc>
              <a:buChar char="•"/>
              <a:tabLst>
                <a:tab pos="337185" algn="l"/>
              </a:tabLst>
            </a:pPr>
            <a:r>
              <a:rPr sz="1900" dirty="0">
                <a:latin typeface="Times New Roman"/>
                <a:cs typeface="Times New Roman"/>
              </a:rPr>
              <a:t>Frame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construction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(SOF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+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ID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+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DLC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+</a:t>
            </a:r>
            <a:r>
              <a:rPr sz="1900" spc="-10" dirty="0">
                <a:latin typeface="Times New Roman"/>
                <a:cs typeface="Times New Roman"/>
              </a:rPr>
              <a:t> Data)</a:t>
            </a:r>
            <a:endParaRPr sz="1900" dirty="0">
              <a:latin typeface="Times New Roman"/>
              <a:cs typeface="Times New Roman"/>
            </a:endParaRPr>
          </a:p>
          <a:p>
            <a:pPr marL="252729" indent="-240029">
              <a:lnSpc>
                <a:spcPct val="100000"/>
              </a:lnSpc>
              <a:buAutoNum type="arabicPeriod"/>
              <a:tabLst>
                <a:tab pos="252729" algn="l"/>
              </a:tabLst>
            </a:pPr>
            <a:r>
              <a:rPr sz="1900" dirty="0">
                <a:latin typeface="Times New Roman"/>
                <a:cs typeface="Times New Roman"/>
              </a:rPr>
              <a:t>can_rx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(Receiver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Engine)</a:t>
            </a:r>
            <a:endParaRPr sz="1900" dirty="0">
              <a:latin typeface="Times New Roman"/>
              <a:cs typeface="Times New Roman"/>
            </a:endParaRPr>
          </a:p>
          <a:p>
            <a:pPr marL="337185" lvl="1" indent="-143510">
              <a:lnSpc>
                <a:spcPct val="100000"/>
              </a:lnSpc>
              <a:buChar char="•"/>
              <a:tabLst>
                <a:tab pos="337185" algn="l"/>
              </a:tabLst>
            </a:pPr>
            <a:r>
              <a:rPr sz="1900" dirty="0">
                <a:latin typeface="Times New Roman"/>
                <a:cs typeface="Times New Roman"/>
              </a:rPr>
              <a:t>Frame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detection</a:t>
            </a:r>
            <a:endParaRPr sz="1900" dirty="0">
              <a:latin typeface="Times New Roman"/>
              <a:cs typeface="Times New Roman"/>
            </a:endParaRPr>
          </a:p>
          <a:p>
            <a:pPr marL="337185" lvl="1" indent="-143510">
              <a:lnSpc>
                <a:spcPct val="100000"/>
              </a:lnSpc>
              <a:buChar char="•"/>
              <a:tabLst>
                <a:tab pos="337185" algn="l"/>
              </a:tabLst>
            </a:pPr>
            <a:r>
              <a:rPr sz="1900" dirty="0">
                <a:latin typeface="Times New Roman"/>
                <a:cs typeface="Times New Roman"/>
              </a:rPr>
              <a:t>CRC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validation</a:t>
            </a:r>
            <a:endParaRPr sz="1900" dirty="0">
              <a:latin typeface="Times New Roman"/>
              <a:cs typeface="Times New Roman"/>
            </a:endParaRPr>
          </a:p>
          <a:p>
            <a:pPr marL="337185" lvl="1" indent="-143510">
              <a:lnSpc>
                <a:spcPct val="100000"/>
              </a:lnSpc>
              <a:buChar char="•"/>
              <a:tabLst>
                <a:tab pos="337185" algn="l"/>
              </a:tabLst>
            </a:pPr>
            <a:r>
              <a:rPr sz="1900" dirty="0">
                <a:latin typeface="Times New Roman"/>
                <a:cs typeface="Times New Roman"/>
              </a:rPr>
              <a:t>Data</a:t>
            </a:r>
            <a:r>
              <a:rPr sz="1900" spc="-10" dirty="0">
                <a:latin typeface="Times New Roman"/>
                <a:cs typeface="Times New Roman"/>
              </a:rPr>
              <a:t> extraction</a:t>
            </a:r>
            <a:endParaRPr sz="1900" dirty="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76743" y="658368"/>
            <a:ext cx="4588763" cy="440448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3963" y="6431076"/>
            <a:ext cx="7289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70" dirty="0">
                <a:latin typeface="Tahoma"/>
                <a:cs typeface="Tahoma"/>
              </a:rPr>
              <a:t>12</a:t>
            </a:r>
            <a:r>
              <a:rPr sz="1000" spc="-2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/</a:t>
            </a:r>
            <a:r>
              <a:rPr sz="1000" spc="-204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4</a:t>
            </a:r>
            <a:r>
              <a:rPr sz="1000" spc="-2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/</a:t>
            </a:r>
            <a:r>
              <a:rPr sz="1000" spc="-204" dirty="0">
                <a:latin typeface="Tahoma"/>
                <a:cs typeface="Tahoma"/>
              </a:rPr>
              <a:t> </a:t>
            </a:r>
            <a:r>
              <a:rPr sz="1000" spc="75" dirty="0">
                <a:latin typeface="Tahoma"/>
                <a:cs typeface="Tahoma"/>
              </a:rPr>
              <a:t>2025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18823" y="6431076"/>
            <a:ext cx="1962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5" dirty="0">
                <a:latin typeface="Tahoma"/>
                <a:cs typeface="Tahoma"/>
              </a:rPr>
              <a:t>27 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061" y="20523"/>
            <a:ext cx="8917939" cy="700114"/>
          </a:xfrm>
          <a:prstGeom prst="rect">
            <a:avLst/>
          </a:prstGeom>
        </p:spPr>
        <p:txBody>
          <a:bodyPr vert="horz" wrap="square" lIns="0" tIns="327583" rIns="0" bIns="0" rtlCol="0">
            <a:spAutoFit/>
          </a:bodyPr>
          <a:lstStyle/>
          <a:p>
            <a:pPr marL="29273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RTL</a:t>
            </a:r>
            <a:r>
              <a:rPr sz="2400" b="1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45614" y="4978984"/>
            <a:ext cx="3012186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Signal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Descriptions: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45614" y="5283020"/>
            <a:ext cx="8100695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dirty="0" err="1">
                <a:latin typeface="Times New Roman"/>
                <a:cs typeface="Times New Roman"/>
              </a:rPr>
              <a:t>CAN_H_y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lang="en-US" sz="2000" dirty="0">
                <a:latin typeface="Times New Roman"/>
                <a:cs typeface="Times New Roman"/>
              </a:rPr>
              <a:t>Yellow line</a:t>
            </a:r>
            <a:r>
              <a:rPr sz="2000" dirty="0">
                <a:latin typeface="Times New Roman"/>
                <a:cs typeface="Times New Roman"/>
              </a:rPr>
              <a:t>):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•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Repres</a:t>
            </a:r>
            <a:r>
              <a:rPr lang="en-US" sz="2000" dirty="0">
                <a:latin typeface="Times New Roman"/>
                <a:cs typeface="Times New Roman"/>
              </a:rPr>
              <a:t>ents CAN_H signal</a:t>
            </a:r>
            <a:endParaRPr sz="2000" dirty="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000" dirty="0" err="1">
                <a:latin typeface="Times New Roman"/>
                <a:cs typeface="Times New Roman"/>
              </a:rPr>
              <a:t>CAN_L_y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lang="en-US" sz="2000" dirty="0">
                <a:latin typeface="Times New Roman"/>
                <a:cs typeface="Times New Roman"/>
              </a:rPr>
              <a:t>Red line</a:t>
            </a:r>
            <a:r>
              <a:rPr sz="2000" dirty="0">
                <a:latin typeface="Times New Roman"/>
                <a:cs typeface="Times New Roman"/>
              </a:rPr>
              <a:t>):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•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Represents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CAN_L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complementary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signal</a:t>
            </a:r>
            <a:endParaRPr lang="en-US" sz="2000" spc="-10" dirty="0">
              <a:latin typeface="Times New Roman"/>
              <a:cs typeface="Times New Roman"/>
            </a:endParaRPr>
          </a:p>
          <a:p>
            <a:pPr marL="12700">
              <a:tabLst>
                <a:tab pos="299085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For dominant 0 the CAN_H (3.5V) and  CAN_L (1.5V) and for recessive 1 both are at 2.5V</a:t>
            </a:r>
          </a:p>
          <a:p>
            <a:pPr marL="12700">
              <a:lnSpc>
                <a:spcPct val="100000"/>
              </a:lnSpc>
              <a:tabLst>
                <a:tab pos="299085" algn="l"/>
              </a:tabLst>
            </a:pPr>
            <a:endParaRPr sz="2000" dirty="0">
              <a:latin typeface="Times New Roman"/>
              <a:cs typeface="Times New Roman"/>
            </a:endParaRPr>
          </a:p>
          <a:p>
            <a:pPr marL="2618741" lvl="1">
              <a:lnSpc>
                <a:spcPct val="100000"/>
              </a:lnSpc>
              <a:tabLst>
                <a:tab pos="2741930" algn="l"/>
              </a:tabLst>
            </a:pP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7" y="925067"/>
            <a:ext cx="12143232" cy="402793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3963" y="6431076"/>
            <a:ext cx="7289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70" dirty="0">
                <a:latin typeface="Tahoma"/>
                <a:cs typeface="Tahoma"/>
              </a:rPr>
              <a:t>12</a:t>
            </a:r>
            <a:r>
              <a:rPr sz="1000" spc="-2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/</a:t>
            </a:r>
            <a:r>
              <a:rPr sz="1000" spc="-204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4</a:t>
            </a:r>
            <a:r>
              <a:rPr sz="1000" spc="-2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/</a:t>
            </a:r>
            <a:r>
              <a:rPr sz="1000" spc="-204" dirty="0">
                <a:latin typeface="Tahoma"/>
                <a:cs typeface="Tahoma"/>
              </a:rPr>
              <a:t> </a:t>
            </a:r>
            <a:r>
              <a:rPr sz="1000" spc="75" dirty="0">
                <a:latin typeface="Tahoma"/>
                <a:cs typeface="Tahoma"/>
              </a:rPr>
              <a:t>2025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18823" y="6431076"/>
            <a:ext cx="1962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5" dirty="0">
                <a:latin typeface="Tahoma"/>
                <a:cs typeface="Tahoma"/>
              </a:rPr>
              <a:t>28 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-271527" y="-249414"/>
            <a:ext cx="3748939" cy="997076"/>
          </a:xfrm>
          <a:prstGeom prst="rect">
            <a:avLst/>
          </a:prstGeom>
        </p:spPr>
        <p:txBody>
          <a:bodyPr vert="horz" wrap="square" lIns="0" tIns="610996" rIns="0" bIns="0" rtlCol="0">
            <a:spAutoFit/>
          </a:bodyPr>
          <a:lstStyle/>
          <a:p>
            <a:pPr marL="671195">
              <a:lnSpc>
                <a:spcPct val="100000"/>
              </a:lnSpc>
              <a:spcBef>
                <a:spcPts val="100"/>
              </a:spcBef>
            </a:pPr>
            <a:r>
              <a:rPr sz="2400" b="1" spc="-20" dirty="0"/>
              <a:t>APPLICATIONS</a:t>
            </a:r>
            <a:r>
              <a:rPr lang="en-IN" sz="2400" b="1" spc="-20" dirty="0"/>
              <a:t>:</a:t>
            </a:r>
            <a:endParaRPr sz="2400" b="1"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381000" y="1017599"/>
            <a:ext cx="11234038" cy="52347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998855" indent="-342900" algn="just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57188" algn="l"/>
              </a:tabLst>
            </a:pP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automotive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electronics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because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supports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reliable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in-</a:t>
            </a:r>
            <a:r>
              <a:rPr sz="2400" spc="-10" dirty="0">
                <a:latin typeface="Times New Roman"/>
                <a:cs typeface="Times New Roman"/>
              </a:rPr>
              <a:t>vehicle </a:t>
            </a:r>
            <a:r>
              <a:rPr sz="2400" dirty="0">
                <a:latin typeface="Times New Roman"/>
                <a:cs typeface="Times New Roman"/>
              </a:rPr>
              <a:t>communication.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strong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noise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immunity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makes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suitabl</a:t>
            </a:r>
            <a:r>
              <a:rPr lang="en-US" sz="2400" dirty="0">
                <a:latin typeface="Times New Roman"/>
                <a:cs typeface="Times New Roman"/>
              </a:rPr>
              <a:t>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safety-critical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systems.</a:t>
            </a:r>
            <a:endParaRPr sz="240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90"/>
              </a:spcBef>
              <a:buFont typeface="Times New Roman"/>
              <a:buAutoNum type="arabicPeriod"/>
            </a:pPr>
            <a:endParaRPr sz="2400" dirty="0">
              <a:latin typeface="Times New Roman"/>
              <a:cs typeface="Times New Roman"/>
            </a:endParaRPr>
          </a:p>
          <a:p>
            <a:pPr marL="355600" marR="685165" indent="-342900" algn="just">
              <a:lnSpc>
                <a:spcPct val="100000"/>
              </a:lnSpc>
              <a:buAutoNum type="arabicPeriod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Suitable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industrial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automation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harsh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electrical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environments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exist.</a:t>
            </a:r>
          </a:p>
          <a:p>
            <a:pPr algn="just">
              <a:lnSpc>
                <a:spcPct val="100000"/>
              </a:lnSpc>
              <a:spcBef>
                <a:spcPts val="90"/>
              </a:spcBef>
              <a:buFont typeface="Times New Roman"/>
              <a:buAutoNum type="arabicPeriod"/>
            </a:pPr>
            <a:endParaRPr sz="2400" dirty="0">
              <a:latin typeface="Times New Roman"/>
              <a:cs typeface="Times New Roman"/>
            </a:endParaRPr>
          </a:p>
          <a:p>
            <a:pPr marL="354965" indent="-342265" algn="just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Applied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robotics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require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dependable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high-speed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communication.</a:t>
            </a:r>
            <a:endParaRPr sz="240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90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5"/>
              </a:spcBef>
              <a:buAutoNum type="arabicPeriod" startAt="4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Useful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medical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devices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compact,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low-power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communication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interfaces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needed.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CMOS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process </a:t>
            </a:r>
            <a:r>
              <a:rPr sz="2400" dirty="0">
                <a:latin typeface="Times New Roman"/>
                <a:cs typeface="Times New Roman"/>
              </a:rPr>
              <a:t>reduces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cost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power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consumption,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making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ideal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embedded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medical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systems.</a:t>
            </a:r>
            <a:endParaRPr sz="240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85"/>
              </a:spcBef>
              <a:buFont typeface="Times New Roman"/>
              <a:buAutoNum type="arabicPeriod" startAt="4"/>
            </a:pPr>
            <a:endParaRPr sz="2400" dirty="0">
              <a:latin typeface="Times New Roman"/>
              <a:cs typeface="Times New Roman"/>
            </a:endParaRPr>
          </a:p>
          <a:p>
            <a:pPr marL="354965" indent="-342265" algn="just">
              <a:lnSpc>
                <a:spcPct val="100000"/>
              </a:lnSpc>
              <a:spcBef>
                <a:spcPts val="5"/>
              </a:spcBef>
              <a:buAutoNum type="arabicPeriod" startAt="4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Supports</a:t>
            </a:r>
            <a:r>
              <a:rPr sz="2400" spc="-10" dirty="0">
                <a:latin typeface="Times New Roman"/>
                <a:cs typeface="Times New Roman"/>
              </a:rPr>
              <a:t> long-</a:t>
            </a:r>
            <a:r>
              <a:rPr sz="2400" dirty="0">
                <a:latin typeface="Times New Roman"/>
                <a:cs typeface="Times New Roman"/>
              </a:rPr>
              <a:t>distance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 networks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 the adjustable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slew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rate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helps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reduce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EMI, enabling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stable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signaling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over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extended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cable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lengths.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3963" y="6431076"/>
            <a:ext cx="7289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70" dirty="0">
                <a:latin typeface="Tahoma"/>
                <a:cs typeface="Tahoma"/>
              </a:rPr>
              <a:t>12</a:t>
            </a:r>
            <a:r>
              <a:rPr sz="1000" spc="-2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/</a:t>
            </a:r>
            <a:r>
              <a:rPr sz="1000" spc="-204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4</a:t>
            </a:r>
            <a:r>
              <a:rPr sz="1000" spc="-2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/</a:t>
            </a:r>
            <a:r>
              <a:rPr sz="1000" spc="-204" dirty="0">
                <a:latin typeface="Tahoma"/>
                <a:cs typeface="Tahoma"/>
              </a:rPr>
              <a:t> </a:t>
            </a:r>
            <a:r>
              <a:rPr sz="1000" spc="75" dirty="0">
                <a:latin typeface="Tahoma"/>
                <a:cs typeface="Tahoma"/>
              </a:rPr>
              <a:t>2025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18823" y="6431076"/>
            <a:ext cx="1962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5" dirty="0">
                <a:latin typeface="Tahoma"/>
                <a:cs typeface="Tahoma"/>
              </a:rPr>
              <a:t>29 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6200" y="-332086"/>
            <a:ext cx="8917939" cy="1162420"/>
          </a:xfrm>
          <a:prstGeom prst="rect">
            <a:avLst/>
          </a:prstGeom>
        </p:spPr>
        <p:txBody>
          <a:bodyPr vert="horz" wrap="square" lIns="0" tIns="724458" rIns="0" bIns="0" rtlCol="0">
            <a:spAutoFit/>
          </a:bodyPr>
          <a:lstStyle/>
          <a:p>
            <a:pPr marL="535940">
              <a:lnSpc>
                <a:spcPct val="100000"/>
              </a:lnSpc>
              <a:spcBef>
                <a:spcPts val="100"/>
              </a:spcBef>
            </a:pPr>
            <a:r>
              <a:rPr sz="2800" b="1" spc="-40" dirty="0"/>
              <a:t>ADVANTAGES</a:t>
            </a:r>
            <a:r>
              <a:rPr lang="en-IN" sz="2800" b="1" spc="-40" dirty="0"/>
              <a:t>:</a:t>
            </a:r>
            <a:endParaRPr sz="2800" b="1" spc="-40" dirty="0"/>
          </a:p>
        </p:txBody>
      </p:sp>
      <p:sp>
        <p:nvSpPr>
          <p:cNvPr id="5" name="object 5"/>
          <p:cNvSpPr txBox="1"/>
          <p:nvPr/>
        </p:nvSpPr>
        <p:spPr>
          <a:xfrm>
            <a:off x="584403" y="1280616"/>
            <a:ext cx="10996930" cy="4403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Offers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continuously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adjustable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slew rate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 an external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resistor,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allowing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operation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high-</a:t>
            </a:r>
            <a:r>
              <a:rPr sz="2400" dirty="0">
                <a:latin typeface="Times New Roman"/>
                <a:cs typeface="Times New Roman"/>
              </a:rPr>
              <a:t>spee</a:t>
            </a:r>
            <a:r>
              <a:rPr lang="en-US" sz="2400" dirty="0">
                <a:latin typeface="Times New Roman"/>
                <a:cs typeface="Times New Roman"/>
              </a:rPr>
              <a:t>d </a:t>
            </a:r>
            <a:r>
              <a:rPr sz="2400" dirty="0">
                <a:latin typeface="Times New Roman"/>
                <a:cs typeface="Times New Roman"/>
              </a:rPr>
              <a:t>modes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depending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requirements.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355600" marR="321945" indent="-342900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Includes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short-</a:t>
            </a:r>
            <a:r>
              <a:rPr sz="2400" dirty="0">
                <a:latin typeface="Times New Roman"/>
                <a:cs typeface="Times New Roman"/>
              </a:rPr>
              <a:t>circuit,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over-</a:t>
            </a:r>
            <a:r>
              <a:rPr sz="2400" dirty="0">
                <a:latin typeface="Times New Roman"/>
                <a:cs typeface="Times New Roman"/>
              </a:rPr>
              <a:t>voltage,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under-</a:t>
            </a:r>
            <a:r>
              <a:rPr sz="2400" dirty="0">
                <a:latin typeface="Times New Roman"/>
                <a:cs typeface="Times New Roman"/>
              </a:rPr>
              <a:t>voltage,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thermal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shutdown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protection,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improving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reliability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under </a:t>
            </a:r>
            <a:r>
              <a:rPr sz="2400" dirty="0">
                <a:latin typeface="Times New Roman"/>
                <a:cs typeface="Times New Roman"/>
              </a:rPr>
              <a:t>fault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conditions.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Times New Roman"/>
              <a:buAutoNum type="arabicPeriod" startAt="2"/>
            </a:pPr>
            <a:endParaRPr sz="2400" dirty="0">
              <a:latin typeface="Times New Roman"/>
              <a:cs typeface="Times New Roman"/>
            </a:endParaRPr>
          </a:p>
          <a:p>
            <a:pPr marL="355600" marR="5080" indent="-342900">
              <a:buFontTx/>
              <a:buAutoNum type="arabicPeriod" startAt="2"/>
              <a:tabLst>
                <a:tab pos="35560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two wire differential communication . It uses only CAN_H and CAN_L.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Times New Roman"/>
              <a:buAutoNum type="arabicPeriod" startAt="2"/>
            </a:pPr>
            <a:endParaRPr sz="24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AutoNum type="arabicPeriod" startAt="2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Uses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low-</a:t>
            </a:r>
            <a:r>
              <a:rPr sz="2400" dirty="0">
                <a:latin typeface="Times New Roman"/>
                <a:cs typeface="Times New Roman"/>
              </a:rPr>
              <a:t>cost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CMOS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technology,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resulting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lower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power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consumption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making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economically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suitable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for</a:t>
            </a:r>
            <a:endParaRPr sz="2400" dirty="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400" spc="-10" dirty="0">
                <a:latin typeface="Times New Roman"/>
                <a:cs typeface="Times New Roman"/>
              </a:rPr>
              <a:t>large-</a:t>
            </a:r>
            <a:r>
              <a:rPr sz="2400" dirty="0">
                <a:latin typeface="Times New Roman"/>
                <a:cs typeface="Times New Roman"/>
              </a:rPr>
              <a:t>scale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applications.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3963" y="6431076"/>
            <a:ext cx="7289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70" dirty="0">
                <a:latin typeface="Tahoma"/>
                <a:cs typeface="Tahoma"/>
              </a:rPr>
              <a:t>12</a:t>
            </a:r>
            <a:r>
              <a:rPr sz="1000" spc="-2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/</a:t>
            </a:r>
            <a:r>
              <a:rPr sz="1000" spc="-204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4</a:t>
            </a:r>
            <a:r>
              <a:rPr sz="1000" spc="-2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/</a:t>
            </a:r>
            <a:r>
              <a:rPr sz="1000" spc="-204" dirty="0">
                <a:latin typeface="Tahoma"/>
                <a:cs typeface="Tahoma"/>
              </a:rPr>
              <a:t> </a:t>
            </a:r>
            <a:r>
              <a:rPr sz="1000" spc="75" dirty="0">
                <a:latin typeface="Tahoma"/>
                <a:cs typeface="Tahoma"/>
              </a:rPr>
              <a:t>2025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18823" y="6431076"/>
            <a:ext cx="1962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5" dirty="0">
                <a:latin typeface="Tahoma"/>
                <a:cs typeface="Tahoma"/>
              </a:rPr>
              <a:t>30 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62000" y="399885"/>
            <a:ext cx="25908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35" dirty="0"/>
              <a:t>LIMITATIONS</a:t>
            </a:r>
            <a:r>
              <a:rPr lang="en-IN" sz="2800" b="1" spc="-35" dirty="0"/>
              <a:t>:</a:t>
            </a:r>
            <a:endParaRPr sz="2800" b="1" spc="-35" dirty="0"/>
          </a:p>
        </p:txBody>
      </p:sp>
      <p:sp>
        <p:nvSpPr>
          <p:cNvPr id="5" name="object 5"/>
          <p:cNvSpPr txBox="1"/>
          <p:nvPr/>
        </p:nvSpPr>
        <p:spPr>
          <a:xfrm>
            <a:off x="893628" y="1196310"/>
            <a:ext cx="10811510" cy="52347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77495" indent="-3429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Built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older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180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nm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CMOS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limits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speed,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integration,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power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efficiency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compared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to </a:t>
            </a:r>
            <a:r>
              <a:rPr sz="2400" dirty="0">
                <a:latin typeface="Times New Roman"/>
                <a:cs typeface="Times New Roman"/>
              </a:rPr>
              <a:t>modern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technologies.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Times New Roman"/>
              <a:buAutoNum type="arabicPeriod"/>
            </a:pPr>
            <a:endParaRPr sz="2400" dirty="0">
              <a:latin typeface="Times New Roman"/>
              <a:cs typeface="Times New Roman"/>
            </a:endParaRPr>
          </a:p>
          <a:p>
            <a:pPr marL="355600" marR="247650" indent="-342900">
              <a:lnSpc>
                <a:spcPct val="100000"/>
              </a:lnSpc>
              <a:buAutoNum type="arabicPeriod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Limited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Mbit/s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speed,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making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unsuitable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newer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CAN-</a:t>
            </a:r>
            <a:r>
              <a:rPr sz="2400" dirty="0">
                <a:latin typeface="Times New Roman"/>
                <a:cs typeface="Times New Roman"/>
              </a:rPr>
              <a:t>FD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applications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require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significantly </a:t>
            </a:r>
            <a:r>
              <a:rPr sz="2400" dirty="0">
                <a:latin typeface="Times New Roman"/>
                <a:cs typeface="Times New Roman"/>
              </a:rPr>
              <a:t>higher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rates.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Times New Roman"/>
              <a:buAutoNum type="arabicPeriod"/>
            </a:pPr>
            <a:endParaRPr sz="24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Lacks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modern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low-p</a:t>
            </a:r>
            <a:r>
              <a:rPr lang="en-US" sz="2400" dirty="0">
                <a:latin typeface="Times New Roman"/>
                <a:cs typeface="Times New Roman"/>
              </a:rPr>
              <a:t>ower </a:t>
            </a:r>
            <a:r>
              <a:rPr sz="2400" dirty="0">
                <a:latin typeface="Times New Roman"/>
                <a:cs typeface="Times New Roman"/>
              </a:rPr>
              <a:t>modes,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increases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energy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consumption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battery-powered</a:t>
            </a:r>
            <a:r>
              <a:rPr lang="en-US" sz="2400" spc="-70" dirty="0">
                <a:latin typeface="Times New Roman"/>
                <a:cs typeface="Times New Roman"/>
              </a:rPr>
              <a:t> systems.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355600" marR="84455" indent="-342900">
              <a:lnSpc>
                <a:spcPct val="100000"/>
              </a:lnSpc>
              <a:buAutoNum type="arabicPeriod" startAt="4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Does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include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advanced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diagnostic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features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such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bus-fault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detection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commonly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found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newer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transceivers.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Times New Roman"/>
              <a:buAutoNum type="arabicPeriod" startAt="4"/>
            </a:pPr>
            <a:endParaRPr sz="2400" dirty="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buAutoNum type="arabicPeriod" startAt="4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Thermal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shutdown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150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°C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interrupt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operation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extremely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automotive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situations,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affecting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availability </a:t>
            </a:r>
            <a:r>
              <a:rPr sz="2400" dirty="0">
                <a:latin typeface="Times New Roman"/>
                <a:cs typeface="Times New Roman"/>
              </a:rPr>
              <a:t>under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load.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3963" y="6431076"/>
            <a:ext cx="7289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70" dirty="0">
                <a:latin typeface="Tahoma"/>
                <a:cs typeface="Tahoma"/>
              </a:rPr>
              <a:t>12</a:t>
            </a:r>
            <a:r>
              <a:rPr sz="1000" spc="-2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/</a:t>
            </a:r>
            <a:r>
              <a:rPr sz="1000" spc="-204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4</a:t>
            </a:r>
            <a:r>
              <a:rPr sz="1000" spc="-2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/</a:t>
            </a:r>
            <a:r>
              <a:rPr sz="1000" spc="-204" dirty="0">
                <a:latin typeface="Tahoma"/>
                <a:cs typeface="Tahoma"/>
              </a:rPr>
              <a:t> </a:t>
            </a:r>
            <a:r>
              <a:rPr sz="1000" spc="75" dirty="0">
                <a:latin typeface="Tahoma"/>
                <a:cs typeface="Tahoma"/>
              </a:rPr>
              <a:t>2025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18823" y="6431076"/>
            <a:ext cx="1962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5" dirty="0">
                <a:latin typeface="Tahoma"/>
                <a:cs typeface="Tahoma"/>
              </a:rPr>
              <a:t>31 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4038599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1" dirty="0"/>
              <a:t>FUTURE</a:t>
            </a:r>
            <a:r>
              <a:rPr sz="2800" b="1" spc="-80" dirty="0"/>
              <a:t> </a:t>
            </a:r>
            <a:r>
              <a:rPr sz="2800" b="1" spc="-10" dirty="0"/>
              <a:t>SCOPE</a:t>
            </a:r>
            <a:r>
              <a:rPr lang="en-IN" sz="2800" b="1" spc="-10" dirty="0"/>
              <a:t>:</a:t>
            </a:r>
            <a:endParaRPr sz="2800" b="1" dirty="0"/>
          </a:p>
        </p:txBody>
      </p:sp>
      <p:sp>
        <p:nvSpPr>
          <p:cNvPr id="5" name="object 5"/>
          <p:cNvSpPr txBox="1"/>
          <p:nvPr/>
        </p:nvSpPr>
        <p:spPr>
          <a:xfrm>
            <a:off x="685800" y="1371706"/>
            <a:ext cx="10733023" cy="411458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0200" indent="-317500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330200" algn="l"/>
              </a:tabLst>
            </a:pP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improved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migrating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smaller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CMOS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nodes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like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180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nm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65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nm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4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faster</a:t>
            </a:r>
            <a:r>
              <a:rPr lang="en-IN"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speed,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lower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power,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higher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integration.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355600" marR="92075" indent="-343535">
              <a:lnSpc>
                <a:spcPct val="100000"/>
              </a:lnSpc>
              <a:buAutoNum type="arabicPeriod" startAt="2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Future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versions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could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support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CAN-</a:t>
            </a:r>
            <a:r>
              <a:rPr sz="2400" dirty="0">
                <a:latin typeface="Times New Roman"/>
                <a:cs typeface="Times New Roman"/>
              </a:rPr>
              <a:t>FD with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rates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(5–8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Mbit/s),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expanding </a:t>
            </a:r>
            <a:r>
              <a:rPr sz="2400" dirty="0">
                <a:latin typeface="Times New Roman"/>
                <a:cs typeface="Times New Roman"/>
              </a:rPr>
              <a:t>compatibility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modern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automotive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networks.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 startAt="2"/>
            </a:pPr>
            <a:endParaRPr sz="2400" dirty="0">
              <a:latin typeface="Times New Roman"/>
              <a:cs typeface="Times New Roman"/>
            </a:endParaRPr>
          </a:p>
          <a:p>
            <a:pPr marL="355600" marR="144145" indent="-343535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Additional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diagnostic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fault-tolerant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features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could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 integrated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improve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safety, </a:t>
            </a:r>
            <a:r>
              <a:rPr sz="2400" dirty="0">
                <a:latin typeface="Times New Roman"/>
                <a:cs typeface="Times New Roman"/>
              </a:rPr>
              <a:t>including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error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detection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wake-up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functionality.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Times New Roman"/>
              <a:buAutoNum type="arabicPeriod" startAt="2"/>
            </a:pPr>
            <a:endParaRPr sz="2400" dirty="0">
              <a:latin typeface="Times New Roman"/>
              <a:cs typeface="Times New Roman"/>
            </a:endParaRPr>
          </a:p>
          <a:p>
            <a:pPr marL="355600" marR="123825" indent="-343535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Adding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low-power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standby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sleep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would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significantly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reduce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energy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usage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in </a:t>
            </a:r>
            <a:r>
              <a:rPr sz="2400" dirty="0">
                <a:latin typeface="Times New Roman"/>
                <a:cs typeface="Times New Roman"/>
              </a:rPr>
              <a:t>systems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idle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periods.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3963" y="6431076"/>
            <a:ext cx="7289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70" dirty="0">
                <a:latin typeface="Tahoma"/>
                <a:cs typeface="Tahoma"/>
              </a:rPr>
              <a:t>12</a:t>
            </a:r>
            <a:r>
              <a:rPr sz="1000" spc="-2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/</a:t>
            </a:r>
            <a:r>
              <a:rPr sz="1000" spc="-204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4</a:t>
            </a:r>
            <a:r>
              <a:rPr sz="1000" spc="-2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/</a:t>
            </a:r>
            <a:r>
              <a:rPr sz="1000" spc="-204" dirty="0">
                <a:latin typeface="Tahoma"/>
                <a:cs typeface="Tahoma"/>
              </a:rPr>
              <a:t> </a:t>
            </a:r>
            <a:r>
              <a:rPr sz="1000" spc="75" dirty="0">
                <a:latin typeface="Tahoma"/>
                <a:cs typeface="Tahoma"/>
              </a:rPr>
              <a:t>2025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18823" y="6431076"/>
            <a:ext cx="1962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5" dirty="0">
                <a:latin typeface="Tahoma"/>
                <a:cs typeface="Tahoma"/>
              </a:rPr>
              <a:t>32 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97075" y="308863"/>
            <a:ext cx="2484325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10" dirty="0"/>
              <a:t>Conclusion</a:t>
            </a:r>
            <a:r>
              <a:rPr sz="3200" b="1" spc="-10" dirty="0">
                <a:latin typeface="Tahoma"/>
                <a:cs typeface="Tahoma"/>
              </a:rPr>
              <a:t>:</a:t>
            </a:r>
            <a:endParaRPr sz="3200" b="1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6312" y="914400"/>
            <a:ext cx="10239375" cy="43784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44780" indent="-8255">
              <a:lnSpc>
                <a:spcPct val="150000"/>
              </a:lnSpc>
              <a:spcBef>
                <a:spcPts val="100"/>
              </a:spcBef>
              <a:buSzPct val="95833"/>
              <a:buChar char="•"/>
              <a:tabLst>
                <a:tab pos="118745" algn="l"/>
              </a:tabLst>
            </a:pPr>
            <a:r>
              <a:rPr sz="2400" dirty="0">
                <a:latin typeface="Times New Roman"/>
                <a:cs typeface="Times New Roman"/>
              </a:rPr>
              <a:t>	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CMOS-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transceiver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successfully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integrates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essential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blocks</a:t>
            </a:r>
            <a:r>
              <a:rPr sz="2400" spc="-25" dirty="0">
                <a:latin typeface="Times New Roman"/>
                <a:cs typeface="Times New Roman"/>
              </a:rPr>
              <a:t> for </a:t>
            </a:r>
            <a:r>
              <a:rPr sz="2400" dirty="0">
                <a:latin typeface="Times New Roman"/>
                <a:cs typeface="Times New Roman"/>
              </a:rPr>
              <a:t>reliable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communication.</a:t>
            </a:r>
            <a:endParaRPr sz="2400" dirty="0">
              <a:latin typeface="Times New Roman"/>
              <a:cs typeface="Times New Roman"/>
            </a:endParaRPr>
          </a:p>
          <a:p>
            <a:pPr marL="12700" marR="917575" indent="-8255">
              <a:lnSpc>
                <a:spcPct val="150000"/>
              </a:lnSpc>
              <a:buSzPct val="95833"/>
              <a:buChar char="•"/>
              <a:tabLst>
                <a:tab pos="118745" algn="l"/>
              </a:tabLst>
            </a:pPr>
            <a:r>
              <a:rPr sz="2400" dirty="0">
                <a:latin typeface="Times New Roman"/>
                <a:cs typeface="Times New Roman"/>
              </a:rPr>
              <a:t>	TXD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input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stage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operates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correctly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includes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thermal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protection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safe </a:t>
            </a:r>
            <a:r>
              <a:rPr sz="2400" dirty="0">
                <a:latin typeface="Times New Roman"/>
                <a:cs typeface="Times New Roman"/>
              </a:rPr>
              <a:t>operation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under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fault</a:t>
            </a:r>
            <a:r>
              <a:rPr sz="2400" spc="-10" dirty="0">
                <a:latin typeface="Times New Roman"/>
                <a:cs typeface="Times New Roman"/>
              </a:rPr>
              <a:t> conditions.</a:t>
            </a:r>
            <a:endParaRPr sz="2400" dirty="0">
              <a:latin typeface="Times New Roman"/>
              <a:cs typeface="Times New Roman"/>
            </a:endParaRPr>
          </a:p>
          <a:p>
            <a:pPr marL="12700" marR="585470" indent="-8255">
              <a:lnSpc>
                <a:spcPct val="150000"/>
              </a:lnSpc>
              <a:buSzPct val="95833"/>
              <a:buChar char="•"/>
              <a:tabLst>
                <a:tab pos="118745" algn="l"/>
              </a:tabLst>
            </a:pPr>
            <a:r>
              <a:rPr sz="2400" dirty="0">
                <a:latin typeface="Times New Roman"/>
                <a:cs typeface="Times New Roman"/>
              </a:rPr>
              <a:t>	Middle-stage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driver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generates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accurate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CANH/CANL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differential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signals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with </a:t>
            </a:r>
            <a:r>
              <a:rPr sz="2400" dirty="0">
                <a:latin typeface="Times New Roman"/>
                <a:cs typeface="Times New Roman"/>
              </a:rPr>
              <a:t>proper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voltage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levels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10" dirty="0">
                <a:latin typeface="Times New Roman"/>
                <a:cs typeface="Times New Roman"/>
              </a:rPr>
              <a:t>timing.</a:t>
            </a:r>
            <a:endParaRPr sz="2400" dirty="0">
              <a:latin typeface="Times New Roman"/>
              <a:cs typeface="Times New Roman"/>
            </a:endParaRPr>
          </a:p>
          <a:p>
            <a:pPr marL="12700" marR="669925" indent="-8255">
              <a:lnSpc>
                <a:spcPct val="150000"/>
              </a:lnSpc>
              <a:buSzPct val="95833"/>
              <a:buChar char="•"/>
              <a:tabLst>
                <a:tab pos="118745" algn="l"/>
              </a:tabLst>
            </a:pPr>
            <a:r>
              <a:rPr sz="2400" dirty="0">
                <a:latin typeface="Times New Roman"/>
                <a:cs typeface="Times New Roman"/>
              </a:rPr>
              <a:t>	Simulation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results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confirm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seamless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end-</a:t>
            </a:r>
            <a:r>
              <a:rPr sz="2400" spc="-10" dirty="0">
                <a:latin typeface="Times New Roman"/>
                <a:cs typeface="Times New Roman"/>
              </a:rPr>
              <a:t>to-</a:t>
            </a:r>
            <a:r>
              <a:rPr sz="2400" dirty="0">
                <a:latin typeface="Times New Roman"/>
                <a:cs typeface="Times New Roman"/>
              </a:rPr>
              <a:t>end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communication,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robust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differential </a:t>
            </a:r>
            <a:r>
              <a:rPr sz="2400" dirty="0">
                <a:latin typeface="Times New Roman"/>
                <a:cs typeface="Times New Roman"/>
              </a:rPr>
              <a:t>outputs</a:t>
            </a:r>
            <a:r>
              <a:rPr lang="en-US" sz="2400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1866" y="6580123"/>
            <a:ext cx="8153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60" dirty="0">
                <a:latin typeface="Tahoma"/>
                <a:cs typeface="Tahoma"/>
              </a:rPr>
              <a:t>04-</a:t>
            </a:r>
            <a:r>
              <a:rPr sz="1000" spc="-210" dirty="0">
                <a:latin typeface="Tahoma"/>
                <a:cs typeface="Tahoma"/>
              </a:rPr>
              <a:t> </a:t>
            </a:r>
            <a:r>
              <a:rPr sz="1000" spc="60" dirty="0">
                <a:latin typeface="Tahoma"/>
                <a:cs typeface="Tahoma"/>
              </a:rPr>
              <a:t>12-</a:t>
            </a:r>
            <a:r>
              <a:rPr sz="1000" spc="-204" dirty="0">
                <a:latin typeface="Tahoma"/>
                <a:cs typeface="Tahoma"/>
              </a:rPr>
              <a:t> </a:t>
            </a:r>
            <a:r>
              <a:rPr sz="1000" spc="75" dirty="0">
                <a:latin typeface="Tahoma"/>
                <a:cs typeface="Tahoma"/>
              </a:rPr>
              <a:t>2025 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18823" y="6431076"/>
            <a:ext cx="1962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5" dirty="0">
                <a:latin typeface="Tahoma"/>
                <a:cs typeface="Tahoma"/>
              </a:rPr>
              <a:t>33 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51866" y="194817"/>
            <a:ext cx="24218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C00000"/>
                </a:solidFill>
              </a:rPr>
              <a:t>References:</a:t>
            </a:r>
            <a:endParaRPr sz="4000" dirty="0"/>
          </a:p>
        </p:txBody>
      </p:sp>
      <p:sp>
        <p:nvSpPr>
          <p:cNvPr id="5" name="object 5"/>
          <p:cNvSpPr txBox="1"/>
          <p:nvPr/>
        </p:nvSpPr>
        <p:spPr>
          <a:xfrm>
            <a:off x="710895" y="944321"/>
            <a:ext cx="10330180" cy="49047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64135" indent="-342900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H.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Zhan,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S.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Zong,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X.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Han,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“Design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Circuits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CMOS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Transceiver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Chip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Slew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Rate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Control,”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Advanced</a:t>
            </a:r>
            <a:r>
              <a:rPr sz="2000" i="1" spc="-3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Materials</a:t>
            </a:r>
            <a:r>
              <a:rPr sz="2000" i="1" spc="-5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Research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vols.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433–440,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pp.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1895–1902,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Jan. </a:t>
            </a:r>
            <a:r>
              <a:rPr sz="2000" dirty="0">
                <a:latin typeface="Times New Roman"/>
                <a:cs typeface="Times New Roman"/>
              </a:rPr>
              <a:t>2012,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doi: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10.4028/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2"/>
              </a:rPr>
              <a:t>www.scientific.net/AMR.433-440.1895</a:t>
            </a:r>
            <a:r>
              <a:rPr sz="2000" spc="-10" dirty="0">
                <a:latin typeface="Times New Roman"/>
                <a:cs typeface="Times New Roman"/>
                <a:hlinkClick r:id="rId2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355600" marR="185420" indent="-3429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A.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S.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Shinde,</a:t>
            </a:r>
            <a:r>
              <a:rPr sz="2000" spc="-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A.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Deshpande,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Times New Roman"/>
                <a:cs typeface="Times New Roman"/>
              </a:rPr>
              <a:t>P.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N.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Kalamkar,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and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A.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R.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Nichal,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“Implementation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Bus </a:t>
            </a:r>
            <a:r>
              <a:rPr sz="2000" dirty="0">
                <a:latin typeface="Times New Roman"/>
                <a:cs typeface="Times New Roman"/>
              </a:rPr>
              <a:t>Protocol,”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International</a:t>
            </a:r>
            <a:r>
              <a:rPr sz="2000" i="1" spc="-5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Journal</a:t>
            </a:r>
            <a:r>
              <a:rPr sz="2000" i="1" spc="-5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on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Recent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and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Innovation</a:t>
            </a:r>
            <a:r>
              <a:rPr sz="2000" i="1" spc="-55" dirty="0">
                <a:latin typeface="Times New Roman"/>
                <a:cs typeface="Times New Roman"/>
              </a:rPr>
              <a:t> </a:t>
            </a:r>
            <a:r>
              <a:rPr sz="2000" i="1" spc="-25" dirty="0">
                <a:latin typeface="Times New Roman"/>
                <a:cs typeface="Times New Roman"/>
              </a:rPr>
              <a:t>Trends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in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Computing</a:t>
            </a:r>
            <a:r>
              <a:rPr sz="2000" i="1" spc="-45" dirty="0">
                <a:latin typeface="Times New Roman"/>
                <a:cs typeface="Times New Roman"/>
              </a:rPr>
              <a:t> </a:t>
            </a:r>
            <a:r>
              <a:rPr sz="2000" i="1" spc="-25" dirty="0">
                <a:latin typeface="Times New Roman"/>
                <a:cs typeface="Times New Roman"/>
              </a:rPr>
              <a:t>and </a:t>
            </a:r>
            <a:r>
              <a:rPr sz="2000" i="1" dirty="0">
                <a:latin typeface="Times New Roman"/>
                <a:cs typeface="Times New Roman"/>
              </a:rPr>
              <a:t>Communication</a:t>
            </a:r>
            <a:r>
              <a:rPr sz="2000" i="1" spc="-4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(IJRITCC)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vol.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no.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6,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pp.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1568–1573,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Jun.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2014.</a:t>
            </a:r>
            <a:endParaRPr sz="2000">
              <a:latin typeface="Times New Roman"/>
              <a:cs typeface="Times New Roman"/>
            </a:endParaRPr>
          </a:p>
          <a:p>
            <a:pPr marL="355600" marR="251460" indent="-342900">
              <a:lnSpc>
                <a:spcPct val="100000"/>
              </a:lnSpc>
              <a:buAutoNum type="arabicPeriod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N.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Kim,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D.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Kim,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Cho,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J.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Kim,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70" dirty="0">
                <a:latin typeface="Times New Roman"/>
                <a:cs typeface="Times New Roman"/>
              </a:rPr>
              <a:t>W.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Cho,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“Design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verification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controller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for </a:t>
            </a:r>
            <a:r>
              <a:rPr sz="2000" dirty="0">
                <a:latin typeface="Times New Roman"/>
                <a:cs typeface="Times New Roman"/>
              </a:rPr>
              <a:t>custom</a:t>
            </a:r>
            <a:r>
              <a:rPr sz="2000" spc="-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ASIC,”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Proceedings</a:t>
            </a:r>
            <a:r>
              <a:rPr sz="2000" i="1" spc="-7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of</a:t>
            </a:r>
            <a:r>
              <a:rPr sz="2000" i="1" spc="-4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the</a:t>
            </a:r>
            <a:r>
              <a:rPr sz="2000" i="1" spc="-60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11th</a:t>
            </a:r>
            <a:r>
              <a:rPr sz="2000" i="1" spc="-5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International</a:t>
            </a:r>
            <a:r>
              <a:rPr sz="2000" i="1" spc="-8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CAN</a:t>
            </a:r>
            <a:r>
              <a:rPr sz="2000" i="1" spc="-3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Conference</a:t>
            </a:r>
            <a:r>
              <a:rPr sz="2000" i="1" spc="-7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(iCC)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CiA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(CAN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in </a:t>
            </a:r>
            <a:r>
              <a:rPr sz="2000" dirty="0">
                <a:latin typeface="Times New Roman"/>
                <a:cs typeface="Times New Roman"/>
              </a:rPr>
              <a:t>Automation),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2005,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pp.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09-</a:t>
            </a:r>
            <a:r>
              <a:rPr sz="2000" spc="-25" dirty="0">
                <a:latin typeface="Times New Roman"/>
                <a:cs typeface="Times New Roman"/>
              </a:rPr>
              <a:t>13.</a:t>
            </a:r>
            <a:endParaRPr sz="2000">
              <a:latin typeface="Times New Roman"/>
              <a:cs typeface="Times New Roman"/>
            </a:endParaRPr>
          </a:p>
          <a:p>
            <a:pPr marL="354330" marR="922019" indent="-341630" algn="just">
              <a:lnSpc>
                <a:spcPct val="100000"/>
              </a:lnSpc>
              <a:buAutoNum type="arabicPeriod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D.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Batas 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K.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Schumacher,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“An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integrated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analog-CMOS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control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low-</a:t>
            </a:r>
            <a:r>
              <a:rPr sz="2000" spc="-20" dirty="0">
                <a:latin typeface="Times New Roman"/>
                <a:cs typeface="Times New Roman"/>
              </a:rPr>
              <a:t>cost 	</a:t>
            </a:r>
            <a:r>
              <a:rPr sz="2000" dirty="0">
                <a:latin typeface="Times New Roman"/>
                <a:cs typeface="Times New Roman"/>
              </a:rPr>
              <a:t>applications,”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2002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9th</a:t>
            </a:r>
            <a:r>
              <a:rPr sz="2000" i="1" spc="-3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International</a:t>
            </a:r>
            <a:r>
              <a:rPr sz="2000" i="1" spc="-6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Conference</a:t>
            </a:r>
            <a:r>
              <a:rPr sz="2000" i="1" spc="-5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on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Electronics,</a:t>
            </a:r>
            <a:r>
              <a:rPr sz="2000" i="1" spc="-6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Circuits</a:t>
            </a:r>
            <a:r>
              <a:rPr sz="2000" i="1" spc="-4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and</a:t>
            </a:r>
            <a:r>
              <a:rPr sz="2000" i="1" spc="-30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Systems 	</a:t>
            </a:r>
            <a:r>
              <a:rPr sz="2000" i="1" dirty="0">
                <a:latin typeface="Times New Roman"/>
                <a:cs typeface="Times New Roman"/>
              </a:rPr>
              <a:t>(ICECS)</a:t>
            </a:r>
            <a:r>
              <a:rPr sz="2000" dirty="0">
                <a:latin typeface="Times New Roman"/>
                <a:cs typeface="Times New Roman"/>
              </a:rPr>
              <a:t>, Dubrovnik,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Croatia,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2002,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pp.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1239–1242,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doi: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10.1109/ICECS.2002.1046254.</a:t>
            </a:r>
            <a:endParaRPr sz="2000">
              <a:latin typeface="Times New Roman"/>
              <a:cs typeface="Times New Roman"/>
            </a:endParaRPr>
          </a:p>
          <a:p>
            <a:pPr marL="355600" marR="93980" indent="-342900" algn="just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L.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Ran,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imes New Roman"/>
                <a:cs typeface="Times New Roman"/>
              </a:rPr>
              <a:t>W.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Junfeng,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70" dirty="0">
                <a:latin typeface="Times New Roman"/>
                <a:cs typeface="Times New Roman"/>
              </a:rPr>
              <a:t>W.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Haiying,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“Design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Method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Communication </a:t>
            </a:r>
            <a:r>
              <a:rPr sz="2000" dirty="0">
                <a:latin typeface="Times New Roman"/>
                <a:cs typeface="Times New Roman"/>
              </a:rPr>
              <a:t>Structure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Electric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Vehicle,”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IFOST</a:t>
            </a:r>
            <a:r>
              <a:rPr sz="2000" i="1" spc="-5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2010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Proceedings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Harbin,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China, 2010,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pp.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1–4,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IEEE.</a:t>
            </a:r>
            <a:endParaRPr sz="20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buAutoNum type="arabicPeriod"/>
              <a:tabLst>
                <a:tab pos="355600" algn="l"/>
              </a:tabLst>
            </a:pPr>
            <a:r>
              <a:rPr sz="2000" spc="-95" dirty="0">
                <a:latin typeface="Times New Roman"/>
                <a:cs typeface="Times New Roman"/>
              </a:rPr>
              <a:t>P.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Kaur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C.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K.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35" dirty="0">
                <a:latin typeface="Times New Roman"/>
                <a:cs typeface="Times New Roman"/>
              </a:rPr>
              <a:t>Toor, </a:t>
            </a:r>
            <a:r>
              <a:rPr sz="2000" dirty="0">
                <a:latin typeface="Times New Roman"/>
                <a:cs typeface="Times New Roman"/>
              </a:rPr>
              <a:t>“An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FPGA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Implementation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Protocol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Automobiles,”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Australian </a:t>
            </a:r>
            <a:r>
              <a:rPr sz="2000" i="1" dirty="0">
                <a:latin typeface="Times New Roman"/>
                <a:cs typeface="Times New Roman"/>
              </a:rPr>
              <a:t>Journal</a:t>
            </a:r>
            <a:r>
              <a:rPr sz="2000" i="1" spc="-5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of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Basic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and</a:t>
            </a:r>
            <a:r>
              <a:rPr sz="2000" i="1" spc="-7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Applied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Sciences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vol.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11,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no.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8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(Special),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pp.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107–113,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2017.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200" y="685800"/>
            <a:ext cx="10879455" cy="4415155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sz="2400" b="1" dirty="0">
                <a:latin typeface="Times New Roman"/>
                <a:cs typeface="Times New Roman"/>
              </a:rPr>
              <a:t>Course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Outcomes: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Times New Roman"/>
                <a:cs typeface="Times New Roman"/>
              </a:rPr>
              <a:t>On completion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course,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students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able</a:t>
            </a:r>
            <a:r>
              <a:rPr sz="2400" spc="-25" dirty="0">
                <a:latin typeface="Times New Roman"/>
                <a:cs typeface="Times New Roman"/>
              </a:rPr>
              <a:t> to:</a:t>
            </a:r>
            <a:endParaRPr sz="24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469265" algn="l"/>
              </a:tabLst>
            </a:pPr>
            <a:r>
              <a:rPr sz="2400" dirty="0">
                <a:latin typeface="Times New Roman"/>
                <a:cs typeface="Times New Roman"/>
              </a:rPr>
              <a:t>Get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exposed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literature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available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research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challenges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interdisciplinary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fields.</a:t>
            </a:r>
            <a:endParaRPr sz="2400" dirty="0">
              <a:latin typeface="Times New Roman"/>
              <a:cs typeface="Times New Roman"/>
            </a:endParaRPr>
          </a:p>
          <a:p>
            <a:pPr marL="469900" marR="7620" indent="-457200">
              <a:lnSpc>
                <a:spcPct val="150000"/>
              </a:lnSpc>
              <a:buAutoNum type="arabicPeriod"/>
              <a:tabLst>
                <a:tab pos="469900" algn="l"/>
              </a:tabLst>
            </a:pPr>
            <a:r>
              <a:rPr sz="2400" dirty="0">
                <a:latin typeface="Times New Roman"/>
                <a:cs typeface="Times New Roman"/>
              </a:rPr>
              <a:t>Get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insight</a:t>
            </a:r>
            <a:r>
              <a:rPr sz="2400" spc="2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real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world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problems,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challenges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related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engineering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issues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to </a:t>
            </a:r>
            <a:r>
              <a:rPr sz="2400" dirty="0">
                <a:latin typeface="Times New Roman"/>
                <a:cs typeface="Times New Roman"/>
              </a:rPr>
              <a:t>broader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societal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context.</a:t>
            </a:r>
            <a:endParaRPr sz="24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445"/>
              </a:spcBef>
              <a:buAutoNum type="arabicPeriod"/>
              <a:tabLst>
                <a:tab pos="469265" algn="l"/>
              </a:tabLst>
            </a:pPr>
            <a:r>
              <a:rPr sz="2400" dirty="0">
                <a:latin typeface="Times New Roman"/>
                <a:cs typeface="Times New Roman"/>
              </a:rPr>
              <a:t>Implement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their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idea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modern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tools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&amp;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new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technologies.</a:t>
            </a:r>
            <a:endParaRPr sz="24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469265" algn="l"/>
                <a:tab pos="2216150" algn="l"/>
                <a:tab pos="4336415" algn="l"/>
                <a:tab pos="5069840" algn="l"/>
                <a:tab pos="6046470" algn="l"/>
                <a:tab pos="7471409" algn="l"/>
                <a:tab pos="7898130" algn="l"/>
                <a:tab pos="8680450" algn="l"/>
                <a:tab pos="10425430" algn="l"/>
              </a:tabLst>
            </a:pPr>
            <a:r>
              <a:rPr sz="2400" spc="-10" dirty="0">
                <a:latin typeface="Times New Roman"/>
                <a:cs typeface="Times New Roman"/>
              </a:rPr>
              <a:t>Demonstrate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professionalism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with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ethics,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individual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&amp;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team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management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and</a:t>
            </a:r>
            <a:endParaRPr sz="24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Times New Roman"/>
                <a:cs typeface="Times New Roman"/>
              </a:rPr>
              <a:t>effective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communication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skills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comprehend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&amp;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write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reports.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47670" y="774954"/>
            <a:ext cx="6859270" cy="50857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54150" marR="5080" indent="-1442085">
              <a:lnSpc>
                <a:spcPct val="100000"/>
              </a:lnSpc>
              <a:spcBef>
                <a:spcPts val="95"/>
              </a:spcBef>
            </a:pPr>
            <a:r>
              <a:rPr sz="16600" spc="1700" dirty="0">
                <a:latin typeface="Cambria"/>
                <a:cs typeface="Cambria"/>
              </a:rPr>
              <a:t>Thank </a:t>
            </a:r>
            <a:r>
              <a:rPr sz="16600" spc="-25" dirty="0">
                <a:latin typeface="Cambria"/>
                <a:cs typeface="Cambria"/>
              </a:rPr>
              <a:t>YOU</a:t>
            </a:r>
            <a:endParaRPr sz="16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Words>2678</Words>
  <Application>Microsoft Office PowerPoint</Application>
  <PresentationFormat>Widescreen</PresentationFormat>
  <Paragraphs>387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Arial MT</vt:lpstr>
      <vt:lpstr>Calibri</vt:lpstr>
      <vt:lpstr>Cambria</vt:lpstr>
      <vt:lpstr>Tahoma</vt:lpstr>
      <vt:lpstr>Times New Roman</vt:lpstr>
      <vt:lpstr>Wingdings</vt:lpstr>
      <vt:lpstr>Office Theme</vt:lpstr>
      <vt:lpstr>PowerPoint Presentation</vt:lpstr>
      <vt:lpstr>VISION OF THE DEPARTMENT</vt:lpstr>
      <vt:lpstr>PowerPoint Presentation</vt:lpstr>
      <vt:lpstr>INTRODUCTION</vt:lpstr>
      <vt:lpstr>PowerPoint Presentation</vt:lpstr>
      <vt:lpstr>LITERATURE SURVEY</vt:lpstr>
      <vt:lpstr>PowerPoint Presentation</vt:lpstr>
      <vt:lpstr>PROBLEM IDENTIFICATION</vt:lpstr>
      <vt:lpstr>Objective :</vt:lpstr>
      <vt:lpstr>Methodology:</vt:lpstr>
      <vt:lpstr>Tools Utilized:</vt:lpstr>
      <vt:lpstr>Block Diagram of Transreceiver circuit</vt:lpstr>
      <vt:lpstr>CMOS-Based CAN Transceiver (Transmitter, Receiver, and Protection Circuit)</vt:lpstr>
      <vt:lpstr>Input stage</vt:lpstr>
      <vt:lpstr>Input stage</vt:lpstr>
      <vt:lpstr>Middle stage</vt:lpstr>
      <vt:lpstr>Middle stage</vt:lpstr>
      <vt:lpstr>CAN_H and CAN_L Stage</vt:lpstr>
      <vt:lpstr>CAN_H and CAN_L Stage</vt:lpstr>
      <vt:lpstr>Expected Waveform</vt:lpstr>
      <vt:lpstr>Result:</vt:lpstr>
      <vt:lpstr>PowerPoint Presentation</vt:lpstr>
      <vt:lpstr>Receiver Circuit</vt:lpstr>
      <vt:lpstr>Receiver Circuit</vt:lpstr>
      <vt:lpstr>Receiving Wave Form</vt:lpstr>
      <vt:lpstr>PowerPoint Presentation</vt:lpstr>
      <vt:lpstr>RTL Implementation Overview</vt:lpstr>
      <vt:lpstr>RTL Simulation</vt:lpstr>
      <vt:lpstr>APPLICATIONS:</vt:lpstr>
      <vt:lpstr>ADVANTAGES:</vt:lpstr>
      <vt:lpstr>LIMITATIONS:</vt:lpstr>
      <vt:lpstr>FUTURE SCOPE:</vt:lpstr>
      <vt:lpstr>Conclusion:</vt:lpstr>
      <vt:lpstr>References: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Administrator</cp:lastModifiedBy>
  <cp:revision>7</cp:revision>
  <dcterms:created xsi:type="dcterms:W3CDTF">2025-12-05T01:48:50Z</dcterms:created>
  <dcterms:modified xsi:type="dcterms:W3CDTF">2025-12-05T05:00:23Z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2025-12-04T00:00:00Z</vt:filetime>
  </property>
  <property fmtid="{D5CDD505-2E9C-101B-9397-08002B2CF9AE}" pid="3" name="Creator">
    <vt:lpwstr>PDFium</vt:lpwstr>
  </property>
  <property fmtid="{D5CDD505-2E9C-101B-9397-08002B2CF9AE}" pid="4" name="Producer">
    <vt:lpwstr>PDFium</vt:lpwstr>
  </property>
  <property fmtid="{D5CDD505-2E9C-101B-9397-08002B2CF9AE}" pid="5" name="LastSaved">
    <vt:filetime>2025-12-04T00:00:00Z</vt:filetime>
  </property>
</Properties>
</file>